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46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81" r:id="rId11"/>
    <p:sldId id="263" r:id="rId12"/>
    <p:sldId id="264" r:id="rId13"/>
    <p:sldId id="282" r:id="rId14"/>
    <p:sldId id="266" r:id="rId15"/>
    <p:sldId id="267" r:id="rId16"/>
    <p:sldId id="283" r:id="rId17"/>
    <p:sldId id="284" r:id="rId18"/>
    <p:sldId id="269" r:id="rId19"/>
    <p:sldId id="285" r:id="rId20"/>
    <p:sldId id="270" r:id="rId21"/>
    <p:sldId id="287" r:id="rId22"/>
    <p:sldId id="288" r:id="rId23"/>
    <p:sldId id="289" r:id="rId24"/>
    <p:sldId id="291" r:id="rId25"/>
    <p:sldId id="290" r:id="rId26"/>
    <p:sldId id="292" r:id="rId27"/>
    <p:sldId id="271" r:id="rId28"/>
    <p:sldId id="272" r:id="rId29"/>
    <p:sldId id="297" r:id="rId30"/>
    <p:sldId id="299" r:id="rId31"/>
    <p:sldId id="300" r:id="rId32"/>
    <p:sldId id="273" r:id="rId33"/>
    <p:sldId id="274" r:id="rId34"/>
    <p:sldId id="304" r:id="rId35"/>
    <p:sldId id="305" r:id="rId36"/>
    <p:sldId id="306" r:id="rId37"/>
    <p:sldId id="275" r:id="rId38"/>
    <p:sldId id="276" r:id="rId39"/>
    <p:sldId id="308" r:id="rId40"/>
    <p:sldId id="307" r:id="rId41"/>
    <p:sldId id="277" r:id="rId42"/>
    <p:sldId id="278" r:id="rId43"/>
    <p:sldId id="279" r:id="rId44"/>
    <p:sldId id="280" r:id="rId45"/>
  </p:sldIdLst>
  <p:sldSz cx="16256000" cy="9144000"/>
  <p:notesSz cx="9144000" cy="16256000"/>
  <p:embeddedFontLst>
    <p:embeddedFont>
      <p:font typeface="Segoe Print" panose="02000600000000000000" charset="0"/>
      <p:regular r:id="rId50"/>
      <p:bold r:id="rId51"/>
    </p:embeddedFont>
    <p:embeddedFont>
      <p:font typeface="Quattrocento Sans" panose="020B0502050000020003" pitchFamily="34" charset="0"/>
      <p:regular r:id="rId52"/>
      <p:bold r:id="rId53"/>
      <p:italic r:id="rId54"/>
      <p:boldItalic r:id="rId55"/>
    </p:embeddedFont>
    <p:embeddedFont>
      <p:font typeface="Quattrocento Sans" panose="020B0502050000020003" pitchFamily="34" charset="-122"/>
      <p:regular r:id="rId56"/>
      <p:bold r:id="rId57"/>
      <p:italic r:id="rId58"/>
      <p:boldItalic r:id="rId59"/>
    </p:embeddedFont>
    <p:embeddedFont>
      <p:font typeface="Quattrocento Sans" panose="020B0502050000020003" pitchFamily="34" charset="-120"/>
      <p:regular r:id="rId60"/>
      <p:bold r:id="rId61"/>
      <p:italic r:id="rId62"/>
      <p:boldItalic r:id="rId63"/>
    </p:embeddedFont>
    <p:embeddedFont>
      <p:font typeface="微软雅黑" panose="020B0503020204020204" pitchFamily="34" charset="-122"/>
      <p:regular r:id="rId64"/>
      <p:bold r:id="rId65"/>
    </p:embeddedFont>
    <p:embeddedFont>
      <p:font typeface="Calibri" panose="020F0502020204030204" charset="0"/>
      <p:regular r:id="rId66"/>
      <p:bold r:id="rId67"/>
      <p:italic r:id="rId68"/>
      <p:boldItalic r:id="rId69"/>
    </p:embeddedFont>
    <p:embeddedFont>
      <p:font typeface="等线" panose="02010600030101010101" charset="-122"/>
      <p:regular r:id="rId70"/>
      <p:bold r:id="rId71"/>
    </p:embeddedFont>
    <p:embeddedFont>
      <p:font typeface="等线 Light" panose="02010600030101010101" charset="-122"/>
      <p:regular r:id="rId7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20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font" Target="fonts/font23.fntdata"/><Relationship Id="rId71" Type="http://schemas.openxmlformats.org/officeDocument/2006/relationships/font" Target="fonts/font22.fntdata"/><Relationship Id="rId70" Type="http://schemas.openxmlformats.org/officeDocument/2006/relationships/font" Target="fonts/font21.fntdata"/><Relationship Id="rId7" Type="http://schemas.openxmlformats.org/officeDocument/2006/relationships/slide" Target="slides/slide4.xml"/><Relationship Id="rId69" Type="http://schemas.openxmlformats.org/officeDocument/2006/relationships/font" Target="fonts/font20.fntdata"/><Relationship Id="rId68" Type="http://schemas.openxmlformats.org/officeDocument/2006/relationships/font" Target="fonts/font19.fntdata"/><Relationship Id="rId67" Type="http://schemas.openxmlformats.org/officeDocument/2006/relationships/font" Target="fonts/font18.fntdata"/><Relationship Id="rId66" Type="http://schemas.openxmlformats.org/officeDocument/2006/relationships/font" Target="fonts/font17.fntdata"/><Relationship Id="rId65" Type="http://schemas.openxmlformats.org/officeDocument/2006/relationships/font" Target="fonts/font16.fntdata"/><Relationship Id="rId64" Type="http://schemas.openxmlformats.org/officeDocument/2006/relationships/font" Target="fonts/font15.fntdata"/><Relationship Id="rId63" Type="http://schemas.openxmlformats.org/officeDocument/2006/relationships/font" Target="fonts/font14.fntdata"/><Relationship Id="rId62" Type="http://schemas.openxmlformats.org/officeDocument/2006/relationships/font" Target="fonts/font13.fntdata"/><Relationship Id="rId61" Type="http://schemas.openxmlformats.org/officeDocument/2006/relationships/font" Target="fonts/font12.fntdata"/><Relationship Id="rId60" Type="http://schemas.openxmlformats.org/officeDocument/2006/relationships/font" Target="fonts/font11.fntdata"/><Relationship Id="rId6" Type="http://schemas.openxmlformats.org/officeDocument/2006/relationships/slide" Target="slides/slide3.xml"/><Relationship Id="rId59" Type="http://schemas.openxmlformats.org/officeDocument/2006/relationships/font" Target="fonts/font10.fntdata"/><Relationship Id="rId58" Type="http://schemas.openxmlformats.org/officeDocument/2006/relationships/font" Target="fonts/font9.fntdata"/><Relationship Id="rId57" Type="http://schemas.openxmlformats.org/officeDocument/2006/relationships/font" Target="fonts/font8.fntdata"/><Relationship Id="rId56" Type="http://schemas.openxmlformats.org/officeDocument/2006/relationships/font" Target="fonts/font7.fntdata"/><Relationship Id="rId55" Type="http://schemas.openxmlformats.org/officeDocument/2006/relationships/font" Target="fonts/font6.fntdata"/><Relationship Id="rId54" Type="http://schemas.openxmlformats.org/officeDocument/2006/relationships/font" Target="fonts/font5.fntdata"/><Relationship Id="rId53" Type="http://schemas.openxmlformats.org/officeDocument/2006/relationships/font" Target="fonts/font4.fntdata"/><Relationship Id="rId52" Type="http://schemas.openxmlformats.org/officeDocument/2006/relationships/font" Target="fonts/font3.fntdata"/><Relationship Id="rId51" Type="http://schemas.openxmlformats.org/officeDocument/2006/relationships/font" Target="fonts/font2.fntdata"/><Relationship Id="rId50" Type="http://schemas.openxmlformats.org/officeDocument/2006/relationships/font" Target="fonts/font1.fntdata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0F4C3A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开发效率</c:v>
                </c:pt>
                <c:pt idx="1">
                  <c:v>扩展性</c:v>
                </c:pt>
                <c:pt idx="2">
                  <c:v>并发能力</c:v>
                </c:pt>
                <c:pt idx="3">
                  <c:v>上手难度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50</c:v>
                </c:pt>
                <c:pt idx="2">
                  <c:v>30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Scrapy</c:v>
                </c:pt>
              </c:strCache>
            </c:strRef>
          </c:tx>
          <c:spPr>
            <a:solidFill>
              <a:srgbClr val="D4943A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开发效率</c:v>
                </c:pt>
                <c:pt idx="1">
                  <c:v>扩展性</c:v>
                </c:pt>
                <c:pt idx="2">
                  <c:v>并发能力</c:v>
                </c:pt>
                <c:pt idx="3">
                  <c:v>上手难度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</c:v>
                </c:pt>
                <c:pt idx="1">
                  <c:v>95</c:v>
                </c:pt>
                <c:pt idx="2">
                  <c:v>90</c:v>
                </c:pt>
                <c:pt idx="3">
                  <c:v>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b9cc770-6533-4246-b633-f88059f3994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电影数量</c:v>
                </c:pt>
              </c:strCache>
            </c:strRef>
          </c:tx>
          <c:spPr>
            <a:solidFill>
              <a:srgbClr val="0F4C3A"/>
            </a:solidFill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9.0-9.1</c:v>
                </c:pt>
                <c:pt idx="1">
                  <c:v>9.2-9.3</c:v>
                </c:pt>
                <c:pt idx="2">
                  <c:v>9.4-9.5</c:v>
                </c:pt>
                <c:pt idx="3">
                  <c:v>9.6-9.7</c:v>
                </c:pt>
                <c:pt idx="4">
                  <c:v>9.8+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78</c:v>
                </c:pt>
                <c:pt idx="2">
                  <c:v>82</c:v>
                </c:pt>
                <c:pt idx="3">
                  <c:v>35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lang="zh-CN" altLang="en-US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评分区间</a:t>
                </a:r>
                <a:endParaRPr lang="zh-CN" altLang="en-US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lang="zh-CN" altLang="en-US"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数量</a:t>
                </a:r>
                <a:endParaRPr lang="zh-CN" altLang="en-US"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e00a908-9d50-4868-8aa6-dba42eab4c5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F4C3A"/>
              </a:solidFill>
              <a:effectLst/>
            </c:spPr>
          </c:dPt>
          <c:dPt>
            <c:idx val="1"/>
            <c:bubble3D val="0"/>
            <c:spPr>
              <a:solidFill>
                <a:srgbClr val="D4943A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4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正面</c:v>
                </c:pt>
                <c:pt idx="1">
                  <c:v>中性</c:v>
                </c:pt>
                <c:pt idx="2">
                  <c:v>负面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2625</c:v>
                </c:pt>
                <c:pt idx="1">
                  <c:v>750</c:v>
                </c:pt>
                <c:pt idx="2">
                  <c:v>375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3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4bb832-939b-4842-989e-81a595a6392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出现次数</c:v>
                </c:pt>
              </c:strCache>
            </c:strRef>
          </c:tx>
          <c:spPr>
            <a:solidFill>
              <a:srgbClr val="D4943A"/>
            </a:solidFill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经典</c:v>
                </c:pt>
                <c:pt idx="1">
                  <c:v>好看</c:v>
                </c:pt>
                <c:pt idx="2">
                  <c:v>感动</c:v>
                </c:pt>
                <c:pt idx="3">
                  <c:v>人生</c:v>
                </c:pt>
                <c:pt idx="4">
                  <c:v>喜欢</c:v>
                </c:pt>
                <c:pt idx="5">
                  <c:v>故事</c:v>
                </c:pt>
                <c:pt idx="6">
                  <c:v>推荐</c:v>
                </c:pt>
                <c:pt idx="7">
                  <c:v>值得</c:v>
                </c:pt>
                <c:pt idx="8">
                  <c:v>完美</c:v>
                </c:pt>
                <c:pt idx="9">
                  <c:v>深刻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285</c:v>
                </c:pt>
                <c:pt idx="1">
                  <c:v>240</c:v>
                </c:pt>
                <c:pt idx="2">
                  <c:v>198</c:v>
                </c:pt>
                <c:pt idx="3">
                  <c:v>176</c:v>
                </c:pt>
                <c:pt idx="4">
                  <c:v>165</c:v>
                </c:pt>
                <c:pt idx="5">
                  <c:v>152</c:v>
                </c:pt>
                <c:pt idx="6">
                  <c:v>148</c:v>
                </c:pt>
                <c:pt idx="7">
                  <c:v>135</c:v>
                </c:pt>
                <c:pt idx="8">
                  <c:v>120</c:v>
                </c:pt>
                <c:pt idx="9">
                  <c:v>110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8795645-9aa7-4b27-a1ae-32057a6fd44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14499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13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14499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13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27449562"/>
            <a:ext cx="5283200" cy="14499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13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27449562"/>
            <a:ext cx="5283200" cy="14499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13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2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4C3A">
                  <a:alpha val="95000"/>
                </a:srgbClr>
              </a:gs>
              <a:gs pos="60000">
                <a:srgbClr val="0F4C3A">
                  <a:alpha val="90000"/>
                </a:srgbClr>
              </a:gs>
              <a:gs pos="100000">
                <a:srgbClr val="0F4C3A">
                  <a:alpha val="8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4" name="Shape 2"/>
          <p:cNvSpPr/>
          <p:nvPr/>
        </p:nvSpPr>
        <p:spPr>
          <a:xfrm>
            <a:off x="7794625" y="31115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0" y="142875"/>
                </a:moveTo>
                <a:cubicBezTo>
                  <a:pt x="0" y="90339"/>
                  <a:pt x="42714" y="47625"/>
                  <a:pt x="95250" y="47625"/>
                </a:cubicBezTo>
                <a:lnTo>
                  <a:pt x="571500" y="47625"/>
                </a:lnTo>
                <a:cubicBezTo>
                  <a:pt x="624036" y="47625"/>
                  <a:pt x="666750" y="90339"/>
                  <a:pt x="666750" y="142875"/>
                </a:cubicBezTo>
                <a:lnTo>
                  <a:pt x="666750" y="619125"/>
                </a:lnTo>
                <a:cubicBezTo>
                  <a:pt x="666750" y="671661"/>
                  <a:pt x="624036" y="714375"/>
                  <a:pt x="571500" y="714375"/>
                </a:cubicBezTo>
                <a:lnTo>
                  <a:pt x="95250" y="714375"/>
                </a:lnTo>
                <a:cubicBezTo>
                  <a:pt x="42714" y="714375"/>
                  <a:pt x="0" y="671661"/>
                  <a:pt x="0" y="619125"/>
                </a:cubicBezTo>
                <a:lnTo>
                  <a:pt x="0" y="142875"/>
                </a:lnTo>
                <a:close/>
                <a:moveTo>
                  <a:pt x="71438" y="547687"/>
                </a:moveTo>
                <a:lnTo>
                  <a:pt x="71438" y="595313"/>
                </a:lnTo>
                <a:cubicBezTo>
                  <a:pt x="71438" y="608409"/>
                  <a:pt x="82153" y="619125"/>
                  <a:pt x="95250" y="619125"/>
                </a:cubicBezTo>
                <a:lnTo>
                  <a:pt x="142875" y="619125"/>
                </a:lnTo>
                <a:cubicBezTo>
                  <a:pt x="155972" y="619125"/>
                  <a:pt x="166688" y="608409"/>
                  <a:pt x="166688" y="595313"/>
                </a:cubicBezTo>
                <a:lnTo>
                  <a:pt x="166688" y="547687"/>
                </a:lnTo>
                <a:cubicBezTo>
                  <a:pt x="166688" y="534591"/>
                  <a:pt x="155972" y="523875"/>
                  <a:pt x="142875" y="523875"/>
                </a:cubicBezTo>
                <a:lnTo>
                  <a:pt x="95250" y="523875"/>
                </a:lnTo>
                <a:cubicBezTo>
                  <a:pt x="82153" y="523875"/>
                  <a:pt x="71438" y="534591"/>
                  <a:pt x="71438" y="547687"/>
                </a:cubicBezTo>
                <a:close/>
                <a:moveTo>
                  <a:pt x="523875" y="523875"/>
                </a:moveTo>
                <a:cubicBezTo>
                  <a:pt x="510778" y="523875"/>
                  <a:pt x="500063" y="534591"/>
                  <a:pt x="500063" y="547687"/>
                </a:cubicBezTo>
                <a:lnTo>
                  <a:pt x="500063" y="595313"/>
                </a:lnTo>
                <a:cubicBezTo>
                  <a:pt x="500063" y="608409"/>
                  <a:pt x="510778" y="619125"/>
                  <a:pt x="523875" y="619125"/>
                </a:cubicBezTo>
                <a:lnTo>
                  <a:pt x="571500" y="619125"/>
                </a:lnTo>
                <a:cubicBezTo>
                  <a:pt x="584597" y="619125"/>
                  <a:pt x="595313" y="608409"/>
                  <a:pt x="595313" y="595313"/>
                </a:cubicBezTo>
                <a:lnTo>
                  <a:pt x="595313" y="547687"/>
                </a:lnTo>
                <a:cubicBezTo>
                  <a:pt x="595313" y="534591"/>
                  <a:pt x="584597" y="523875"/>
                  <a:pt x="571500" y="523875"/>
                </a:cubicBezTo>
                <a:lnTo>
                  <a:pt x="523875" y="523875"/>
                </a:lnTo>
                <a:close/>
                <a:moveTo>
                  <a:pt x="71438" y="357188"/>
                </a:moveTo>
                <a:lnTo>
                  <a:pt x="71438" y="404813"/>
                </a:lnTo>
                <a:cubicBezTo>
                  <a:pt x="71438" y="417909"/>
                  <a:pt x="82153" y="428625"/>
                  <a:pt x="95250" y="428625"/>
                </a:cubicBezTo>
                <a:lnTo>
                  <a:pt x="142875" y="428625"/>
                </a:lnTo>
                <a:cubicBezTo>
                  <a:pt x="155972" y="428625"/>
                  <a:pt x="166688" y="417909"/>
                  <a:pt x="166688" y="404813"/>
                </a:cubicBezTo>
                <a:lnTo>
                  <a:pt x="166688" y="357188"/>
                </a:lnTo>
                <a:cubicBezTo>
                  <a:pt x="166688" y="344091"/>
                  <a:pt x="155972" y="333375"/>
                  <a:pt x="142875" y="333375"/>
                </a:cubicBezTo>
                <a:lnTo>
                  <a:pt x="95250" y="333375"/>
                </a:lnTo>
                <a:cubicBezTo>
                  <a:pt x="82153" y="333375"/>
                  <a:pt x="71438" y="344091"/>
                  <a:pt x="71438" y="357188"/>
                </a:cubicBezTo>
                <a:close/>
                <a:moveTo>
                  <a:pt x="523875" y="333375"/>
                </a:moveTo>
                <a:cubicBezTo>
                  <a:pt x="510778" y="333375"/>
                  <a:pt x="500063" y="344091"/>
                  <a:pt x="500063" y="357188"/>
                </a:cubicBezTo>
                <a:lnTo>
                  <a:pt x="500063" y="404813"/>
                </a:lnTo>
                <a:cubicBezTo>
                  <a:pt x="500063" y="417909"/>
                  <a:pt x="510778" y="428625"/>
                  <a:pt x="523875" y="428625"/>
                </a:cubicBezTo>
                <a:lnTo>
                  <a:pt x="571500" y="428625"/>
                </a:lnTo>
                <a:cubicBezTo>
                  <a:pt x="584597" y="428625"/>
                  <a:pt x="595313" y="417909"/>
                  <a:pt x="595313" y="404813"/>
                </a:cubicBezTo>
                <a:lnTo>
                  <a:pt x="595313" y="357188"/>
                </a:lnTo>
                <a:cubicBezTo>
                  <a:pt x="595313" y="344091"/>
                  <a:pt x="584597" y="333375"/>
                  <a:pt x="571500" y="333375"/>
                </a:cubicBezTo>
                <a:lnTo>
                  <a:pt x="523875" y="333375"/>
                </a:lnTo>
                <a:close/>
                <a:moveTo>
                  <a:pt x="71438" y="166688"/>
                </a:moveTo>
                <a:lnTo>
                  <a:pt x="71438" y="214313"/>
                </a:lnTo>
                <a:cubicBezTo>
                  <a:pt x="71438" y="227409"/>
                  <a:pt x="82153" y="238125"/>
                  <a:pt x="95250" y="238125"/>
                </a:cubicBezTo>
                <a:lnTo>
                  <a:pt x="142875" y="238125"/>
                </a:lnTo>
                <a:cubicBezTo>
                  <a:pt x="155972" y="238125"/>
                  <a:pt x="166688" y="227409"/>
                  <a:pt x="166688" y="214313"/>
                </a:cubicBezTo>
                <a:lnTo>
                  <a:pt x="166688" y="166688"/>
                </a:lnTo>
                <a:cubicBezTo>
                  <a:pt x="166688" y="153591"/>
                  <a:pt x="155972" y="142875"/>
                  <a:pt x="142875" y="142875"/>
                </a:cubicBezTo>
                <a:lnTo>
                  <a:pt x="95250" y="142875"/>
                </a:lnTo>
                <a:cubicBezTo>
                  <a:pt x="82153" y="142875"/>
                  <a:pt x="71438" y="153591"/>
                  <a:pt x="71438" y="166688"/>
                </a:cubicBezTo>
                <a:close/>
                <a:moveTo>
                  <a:pt x="523875" y="142875"/>
                </a:moveTo>
                <a:cubicBezTo>
                  <a:pt x="510778" y="142875"/>
                  <a:pt x="500063" y="153591"/>
                  <a:pt x="500063" y="166688"/>
                </a:cubicBezTo>
                <a:lnTo>
                  <a:pt x="500063" y="214313"/>
                </a:lnTo>
                <a:cubicBezTo>
                  <a:pt x="500063" y="227409"/>
                  <a:pt x="510778" y="238125"/>
                  <a:pt x="523875" y="238125"/>
                </a:cubicBezTo>
                <a:lnTo>
                  <a:pt x="571500" y="238125"/>
                </a:lnTo>
                <a:cubicBezTo>
                  <a:pt x="584597" y="238125"/>
                  <a:pt x="595313" y="227409"/>
                  <a:pt x="595313" y="214313"/>
                </a:cubicBezTo>
                <a:lnTo>
                  <a:pt x="595313" y="166688"/>
                </a:lnTo>
                <a:cubicBezTo>
                  <a:pt x="595313" y="153591"/>
                  <a:pt x="584597" y="142875"/>
                  <a:pt x="571500" y="142875"/>
                </a:cubicBezTo>
                <a:lnTo>
                  <a:pt x="523875" y="142875"/>
                </a:lnTo>
                <a:close/>
              </a:path>
            </a:pathLst>
          </a:custGeom>
          <a:solidFill>
            <a:srgbClr val="D4943A"/>
          </a:solidFill>
        </p:spPr>
      </p:sp>
      <p:sp>
        <p:nvSpPr>
          <p:cNvPr id="5" name="Text 3"/>
          <p:cNvSpPr/>
          <p:nvPr/>
        </p:nvSpPr>
        <p:spPr>
          <a:xfrm>
            <a:off x="1143000" y="4064000"/>
            <a:ext cx="1397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kern="0" spc="2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豆瓣电影 Top250 爬虫 &amp; 数据分析系统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588000" y="5016500"/>
            <a:ext cx="5080000" cy="25400"/>
          </a:xfrm>
          <a:prstGeom prst="rect">
            <a:avLst/>
          </a:prstGeom>
          <a:solidFill>
            <a:srgbClr val="FFFFFF">
              <a:alpha val="25098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3048000" y="5207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完整Python网络爬虫数据采集与分析系统 · 期末项目答辩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18000" y="7620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GitHub: github.com/mollywprld/douban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88000" y="8064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2026年5月17</a:t>
            </a:r>
            <a:r>
              <a:rPr lang="zh-CN" altLang="en-US" sz="1600" dirty="0">
                <a:solidFill>
                  <a:srgbClr val="FFFFFF">
                    <a:alpha val="5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日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2982595" y="62992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3173095" y="62992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200" dirty="0">
                <a:solidFill>
                  <a:srgbClr val="FFFFFF">
                    <a:alpha val="80000"/>
                  </a:srgbClr>
                </a:solidFill>
                <a:latin typeface="Segoe Print" panose="02000600000000000000" charset="0"/>
                <a:ea typeface="宋体" panose="02010600030101010101" pitchFamily="2" charset="-122"/>
                <a:cs typeface="Segoe Print" panose="02000600000000000000" charset="0"/>
              </a:rPr>
              <a:t>小组成员：刘烈超、冯耀凯、陈佳林</a:t>
            </a:r>
            <a:endParaRPr lang="zh-CN" altLang="en-US" sz="2200" dirty="0">
              <a:solidFill>
                <a:srgbClr val="FFFFFF">
                  <a:alpha val="80000"/>
                </a:srgbClr>
              </a:solidFill>
              <a:latin typeface="Segoe Print" panose="02000600000000000000" charset="0"/>
              <a:ea typeface="宋体" panose="02010600030101010101" pitchFamily="2" charset="-122"/>
              <a:cs typeface="Segoe Print" panose="02000600000000000000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762000" y="0"/>
            <a:ext cx="254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目录 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12800"/>
            <a:ext cx="508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目录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422400"/>
            <a:ext cx="762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3492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016000" y="1968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016000" y="2667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16000" y="3111500"/>
            <a:ext cx="2984500" cy="146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项目背景与技术架构，核心流程与最终产出数据</a:t>
            </a:r>
            <a:endParaRPr lang="en-US" sz="16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4508500" y="1778000"/>
            <a:ext cx="3492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4762500" y="1968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762500" y="2667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爬虫核心模块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762500" y="3111500"/>
            <a:ext cx="2984500" cy="146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Requests与Selenium双爬虫架构，反爬策略与性能对比</a:t>
            </a:r>
            <a:endParaRPr lang="en-US" sz="16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8255000" y="1778000"/>
            <a:ext cx="3492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8509000" y="1968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8509000" y="2667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数据分析与可视化</a:t>
            </a:r>
            <a:endParaRPr lang="en-US" sz="16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8509000" y="3111500"/>
            <a:ext cx="2984500" cy="146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数据清洗、统计分析、情感分析与7类专业图表</a:t>
            </a:r>
            <a:endParaRPr lang="en-US" sz="16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12001500" y="1778000"/>
            <a:ext cx="3492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12255500" y="1968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12255500" y="2667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数据库存储</a:t>
            </a:r>
            <a:endParaRPr lang="en-US" sz="16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12255500" y="3111500"/>
            <a:ext cx="2984500" cy="146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MySQL关系型数据库设计，双表外键关联与批量插入</a:t>
            </a:r>
            <a:endParaRPr lang="en-US" sz="1600" dirty="0"/>
          </a:p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762000" y="5080000"/>
            <a:ext cx="3492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1016000" y="5270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1016000" y="5969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Scrapy高性能架构</a:t>
            </a:r>
            <a:endParaRPr lang="en-US" sz="16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1016000" y="6413500"/>
            <a:ext cx="2984500" cy="146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Scrapy框架重构，数据管道与中间件设计</a:t>
            </a:r>
            <a:endParaRPr lang="en-US" sz="1600" dirty="0"/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4508500" y="5080000"/>
            <a:ext cx="3492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2"/>
            </p:custDataLst>
          </p:nvPr>
        </p:nvSpPr>
        <p:spPr>
          <a:xfrm>
            <a:off x="4762500" y="5270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4762500" y="5969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工具与工程实践</a:t>
            </a:r>
            <a:endParaRPr lang="en-US" sz="16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4762500" y="6413500"/>
            <a:ext cx="2984500" cy="146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日志系统、工具类、项目结构与工程规范</a:t>
            </a:r>
            <a:endParaRPr lang="en-US" sz="1600" dirty="0"/>
          </a:p>
        </p:txBody>
      </p:sp>
      <p:sp>
        <p:nvSpPr>
          <p:cNvPr id="30" name="Shape 28"/>
          <p:cNvSpPr/>
          <p:nvPr>
            <p:custDataLst>
              <p:tags r:id="rId25"/>
            </p:custDataLst>
          </p:nvPr>
        </p:nvSpPr>
        <p:spPr>
          <a:xfrm>
            <a:off x="8255000" y="5080000"/>
            <a:ext cx="3492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26"/>
            </p:custDataLst>
          </p:nvPr>
        </p:nvSpPr>
        <p:spPr>
          <a:xfrm>
            <a:off x="8509000" y="5270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>
            <p:custDataLst>
              <p:tags r:id="rId27"/>
            </p:custDataLst>
          </p:nvPr>
        </p:nvSpPr>
        <p:spPr>
          <a:xfrm>
            <a:off x="8509000" y="5969000"/>
            <a:ext cx="2984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项目成果与总结</a:t>
            </a:r>
            <a:endParaRPr lang="en-US" sz="1600" dirty="0"/>
          </a:p>
        </p:txBody>
      </p:sp>
      <p:sp>
        <p:nvSpPr>
          <p:cNvPr id="33" name="Text 31"/>
          <p:cNvSpPr/>
          <p:nvPr>
            <p:custDataLst>
              <p:tags r:id="rId28"/>
            </p:custDataLst>
          </p:nvPr>
        </p:nvSpPr>
        <p:spPr>
          <a:xfrm>
            <a:off x="8509000" y="6413500"/>
            <a:ext cx="2984500" cy="146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最终产出数据、核心亮点与未来扩展方向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5" name="Text 33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524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D4943A">
                    <a:alpha val="18824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127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492500"/>
            <a:ext cx="1016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5" name="Text 3"/>
          <p:cNvSpPr/>
          <p:nvPr/>
        </p:nvSpPr>
        <p:spPr>
          <a:xfrm>
            <a:off x="762000" y="37465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46355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项目背景、技术栈、核心架构与最终产出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Shape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项目背景与技术架构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Text 11"/>
          <p:cNvSpPr/>
          <p:nvPr/>
        </p:nvSpPr>
        <p:spPr>
          <a:xfrm>
            <a:off x="762000" y="1524000"/>
            <a:ext cx="7112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项目背景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豆瓣电影Top250是中文互联网最具权威性的电影排行榜之一，涵盖评分、评论、类型等多维数据，是数据采集与分析的理想数据源。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技术栈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Python + Requests + Selenium + Scrapy + MySQL + Pandas + Matplotlib/WordCloud/SnowNLP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核心流程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爬取 → 清洗 → 入库 → 分析 → 可视化（一键执行）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1524000"/>
            <a:ext cx="7112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36000" y="1651000"/>
            <a:ext cx="660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最终产出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36000" y="2159000"/>
            <a:ext cx="152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250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636000" y="27305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部电影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41000" y="2159000"/>
            <a:ext cx="152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3750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541000" y="27305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条短评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446000" y="2159000"/>
            <a:ext cx="152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250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2446000" y="2730500"/>
            <a:ext cx="1524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张海报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970000" y="2159000"/>
            <a:ext cx="127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3970000" y="2730500"/>
            <a:ext cx="127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类图表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36000" y="3238500"/>
            <a:ext cx="66040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完整MySQL数据表（movies + comments外键关联）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结构化清洗数据（CSV/JSON/Excel三种格式）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双爬虫架构（Requests轻量 + Scrapy高性能）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情感分析 + 高频关键词词云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588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系统架构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62000" y="6096000"/>
            <a:ext cx="25400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7" name="Text 25"/>
          <p:cNvSpPr/>
          <p:nvPr/>
        </p:nvSpPr>
        <p:spPr>
          <a:xfrm>
            <a:off x="762000" y="60960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Requests/Selenium 爬取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03600" y="62865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29" name="Shape 27"/>
          <p:cNvSpPr/>
          <p:nvPr/>
        </p:nvSpPr>
        <p:spPr>
          <a:xfrm>
            <a:off x="4013200" y="6096000"/>
            <a:ext cx="25400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0" name="Text 28"/>
          <p:cNvSpPr/>
          <p:nvPr/>
        </p:nvSpPr>
        <p:spPr>
          <a:xfrm>
            <a:off x="4013200" y="60960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Pandas 数据清洗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654800" y="62865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32" name="Shape 30"/>
          <p:cNvSpPr/>
          <p:nvPr/>
        </p:nvSpPr>
        <p:spPr>
          <a:xfrm>
            <a:off x="7264400" y="6096000"/>
            <a:ext cx="25400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3" name="Text 31"/>
          <p:cNvSpPr/>
          <p:nvPr/>
        </p:nvSpPr>
        <p:spPr>
          <a:xfrm>
            <a:off x="7264400" y="60960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MySQL 数据存储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906000" y="62865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35" name="Shape 33"/>
          <p:cNvSpPr/>
          <p:nvPr/>
        </p:nvSpPr>
        <p:spPr>
          <a:xfrm>
            <a:off x="10515600" y="6096000"/>
            <a:ext cx="25400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6" name="Text 34"/>
          <p:cNvSpPr/>
          <p:nvPr/>
        </p:nvSpPr>
        <p:spPr>
          <a:xfrm>
            <a:off x="10515600" y="60960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统计/情感分析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157200" y="62865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38" name="Shape 36"/>
          <p:cNvSpPr/>
          <p:nvPr/>
        </p:nvSpPr>
        <p:spPr>
          <a:xfrm>
            <a:off x="13766800" y="6096000"/>
            <a:ext cx="1727200" cy="635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9" name="Text 37"/>
          <p:cNvSpPr/>
          <p:nvPr/>
        </p:nvSpPr>
        <p:spPr>
          <a:xfrm>
            <a:off x="13766800" y="6096000"/>
            <a:ext cx="17272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可视化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1" name="Text 39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524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D4943A">
                    <a:alpha val="18824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127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492500"/>
            <a:ext cx="1016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5" name="Text 3"/>
          <p:cNvSpPr/>
          <p:nvPr/>
        </p:nvSpPr>
        <p:spPr>
          <a:xfrm>
            <a:off x="762000" y="37465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46355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Requests列表页爬虫 + Selenium详情页爬虫 + 反爬策略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整体框架</a:t>
            </a:r>
            <a:endParaRPr lang="zh-CN" altLang="en-US" sz="2800" b="1" dirty="0">
              <a:solidFill>
                <a:srgbClr val="0F4C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Print" panose="02000600000000000000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Shape 11"/>
          <p:cNvSpPr/>
          <p:nvPr/>
        </p:nvSpPr>
        <p:spPr>
          <a:xfrm>
            <a:off x="762000" y="1524000"/>
            <a:ext cx="711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425" y="1714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21456" y="78581"/>
                </a:moveTo>
                <a:lnTo>
                  <a:pt x="292894" y="78581"/>
                </a:lnTo>
                <a:lnTo>
                  <a:pt x="292894" y="121444"/>
                </a:lnTo>
                <a:lnTo>
                  <a:pt x="221456" y="121444"/>
                </a:lnTo>
                <a:lnTo>
                  <a:pt x="221456" y="78581"/>
                </a:lnTo>
                <a:close/>
                <a:moveTo>
                  <a:pt x="214313" y="28575"/>
                </a:moveTo>
                <a:cubicBezTo>
                  <a:pt x="190649" y="28575"/>
                  <a:pt x="171450" y="47774"/>
                  <a:pt x="171450" y="71438"/>
                </a:cubicBezTo>
                <a:lnTo>
                  <a:pt x="171450" y="128588"/>
                </a:lnTo>
                <a:cubicBezTo>
                  <a:pt x="171450" y="152251"/>
                  <a:pt x="190649" y="171450"/>
                  <a:pt x="214313" y="171450"/>
                </a:cubicBezTo>
                <a:lnTo>
                  <a:pt x="228600" y="171450"/>
                </a:lnTo>
                <a:lnTo>
                  <a:pt x="22860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14300" y="257175"/>
                </a:lnTo>
                <a:lnTo>
                  <a:pt x="114300" y="285750"/>
                </a:lnTo>
                <a:lnTo>
                  <a:pt x="100013" y="285750"/>
                </a:lnTo>
                <a:cubicBezTo>
                  <a:pt x="76349" y="285750"/>
                  <a:pt x="57150" y="304949"/>
                  <a:pt x="57150" y="328613"/>
                </a:cubicBezTo>
                <a:lnTo>
                  <a:pt x="57150" y="385763"/>
                </a:lnTo>
                <a:cubicBezTo>
                  <a:pt x="57150" y="409426"/>
                  <a:pt x="76349" y="428625"/>
                  <a:pt x="100013" y="428625"/>
                </a:cubicBezTo>
                <a:lnTo>
                  <a:pt x="185738" y="428625"/>
                </a:lnTo>
                <a:cubicBezTo>
                  <a:pt x="209401" y="428625"/>
                  <a:pt x="228600" y="409426"/>
                  <a:pt x="228600" y="385763"/>
                </a:cubicBezTo>
                <a:lnTo>
                  <a:pt x="228600" y="328613"/>
                </a:lnTo>
                <a:cubicBezTo>
                  <a:pt x="228600" y="304949"/>
                  <a:pt x="209401" y="285750"/>
                  <a:pt x="185738" y="285750"/>
                </a:cubicBezTo>
                <a:lnTo>
                  <a:pt x="171450" y="285750"/>
                </a:lnTo>
                <a:lnTo>
                  <a:pt x="171450" y="257175"/>
                </a:lnTo>
                <a:lnTo>
                  <a:pt x="342900" y="257175"/>
                </a:lnTo>
                <a:lnTo>
                  <a:pt x="342900" y="285750"/>
                </a:lnTo>
                <a:lnTo>
                  <a:pt x="328613" y="285750"/>
                </a:lnTo>
                <a:cubicBezTo>
                  <a:pt x="304949" y="285750"/>
                  <a:pt x="285750" y="304949"/>
                  <a:pt x="285750" y="328613"/>
                </a:cubicBezTo>
                <a:lnTo>
                  <a:pt x="285750" y="385763"/>
                </a:lnTo>
                <a:cubicBezTo>
                  <a:pt x="285750" y="409426"/>
                  <a:pt x="304949" y="428625"/>
                  <a:pt x="32861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328613"/>
                </a:lnTo>
                <a:cubicBezTo>
                  <a:pt x="457200" y="304949"/>
                  <a:pt x="438001" y="285750"/>
                  <a:pt x="414338" y="285750"/>
                </a:cubicBezTo>
                <a:lnTo>
                  <a:pt x="400050" y="285750"/>
                </a:lnTo>
                <a:lnTo>
                  <a:pt x="400050" y="257175"/>
                </a:lnTo>
                <a:lnTo>
                  <a:pt x="485775" y="257175"/>
                </a:lnTo>
                <a:cubicBezTo>
                  <a:pt x="501581" y="257175"/>
                  <a:pt x="514350" y="244406"/>
                  <a:pt x="514350" y="228600"/>
                </a:cubicBezTo>
                <a:cubicBezTo>
                  <a:pt x="514350" y="212794"/>
                  <a:pt x="501581" y="200025"/>
                  <a:pt x="485775" y="200025"/>
                </a:cubicBezTo>
                <a:lnTo>
                  <a:pt x="285750" y="200025"/>
                </a:lnTo>
                <a:lnTo>
                  <a:pt x="285750" y="171450"/>
                </a:lnTo>
                <a:lnTo>
                  <a:pt x="300038" y="171450"/>
                </a:lnTo>
                <a:cubicBezTo>
                  <a:pt x="323701" y="171450"/>
                  <a:pt x="342900" y="152251"/>
                  <a:pt x="342900" y="128588"/>
                </a:cubicBezTo>
                <a:lnTo>
                  <a:pt x="342900" y="71438"/>
                </a:lnTo>
                <a:cubicBezTo>
                  <a:pt x="342900" y="47774"/>
                  <a:pt x="323701" y="28575"/>
                  <a:pt x="300038" y="28575"/>
                </a:cubicBezTo>
                <a:lnTo>
                  <a:pt x="214313" y="28575"/>
                </a:lnTo>
                <a:close/>
                <a:moveTo>
                  <a:pt x="400050" y="335756"/>
                </a:moveTo>
                <a:lnTo>
                  <a:pt x="407194" y="335756"/>
                </a:lnTo>
                <a:lnTo>
                  <a:pt x="407194" y="378619"/>
                </a:lnTo>
                <a:lnTo>
                  <a:pt x="335756" y="378619"/>
                </a:lnTo>
                <a:lnTo>
                  <a:pt x="335756" y="335756"/>
                </a:lnTo>
                <a:lnTo>
                  <a:pt x="400050" y="335756"/>
                </a:lnTo>
                <a:close/>
                <a:moveTo>
                  <a:pt x="171450" y="335756"/>
                </a:moveTo>
                <a:lnTo>
                  <a:pt x="178594" y="335756"/>
                </a:lnTo>
                <a:lnTo>
                  <a:pt x="178594" y="378619"/>
                </a:lnTo>
                <a:lnTo>
                  <a:pt x="107156" y="378619"/>
                </a:lnTo>
                <a:lnTo>
                  <a:pt x="107156" y="335756"/>
                </a:lnTo>
                <a:lnTo>
                  <a:pt x="171450" y="335756"/>
                </a:lnTo>
                <a:close/>
              </a:path>
            </a:pathLst>
          </a:custGeom>
          <a:solidFill>
            <a:srgbClr val="0F4C3A"/>
          </a:solidFill>
        </p:spPr>
      </p:sp>
      <p:sp>
        <p:nvSpPr>
          <p:cNvPr id="15" name="Text 13"/>
          <p:cNvSpPr/>
          <p:nvPr/>
        </p:nvSpPr>
        <p:spPr>
          <a:xfrm>
            <a:off x="1600200" y="1714500"/>
            <a:ext cx="381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Requests 列表页爬虫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2349500"/>
            <a:ext cx="660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爬取Top250列表页（10页 × 25条 = 250部）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提取：排名、标题、评分、评价人数、简介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BeautifulSoup + lxml 解析HTML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智能分页、随机UA池、请求延时（1-4秒）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异常重试（超时/403/429等状态码）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代理IP池轮换、Cookie管理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1524000"/>
            <a:ext cx="711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36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29773" y="-27682"/>
                </a:moveTo>
                <a:cubicBezTo>
                  <a:pt x="340400" y="-30807"/>
                  <a:pt x="351562" y="-25271"/>
                  <a:pt x="355669" y="-15270"/>
                </a:cubicBezTo>
                <a:lnTo>
                  <a:pt x="356384" y="-13216"/>
                </a:lnTo>
                <a:lnTo>
                  <a:pt x="392103" y="108228"/>
                </a:lnTo>
                <a:cubicBezTo>
                  <a:pt x="394335" y="115729"/>
                  <a:pt x="392192" y="123855"/>
                  <a:pt x="386655" y="129391"/>
                </a:cubicBezTo>
                <a:lnTo>
                  <a:pt x="329416" y="186630"/>
                </a:lnTo>
                <a:lnTo>
                  <a:pt x="397639" y="168057"/>
                </a:lnTo>
                <a:lnTo>
                  <a:pt x="415409" y="114657"/>
                </a:lnTo>
                <a:lnTo>
                  <a:pt x="416213" y="112603"/>
                </a:lnTo>
                <a:cubicBezTo>
                  <a:pt x="420678" y="102691"/>
                  <a:pt x="432018" y="97601"/>
                  <a:pt x="442555" y="101084"/>
                </a:cubicBezTo>
                <a:cubicBezTo>
                  <a:pt x="453092" y="104567"/>
                  <a:pt x="459075" y="115461"/>
                  <a:pt x="456664" y="126087"/>
                </a:cubicBezTo>
                <a:lnTo>
                  <a:pt x="456039" y="128230"/>
                </a:lnTo>
                <a:lnTo>
                  <a:pt x="434608" y="192524"/>
                </a:lnTo>
                <a:cubicBezTo>
                  <a:pt x="432375" y="199311"/>
                  <a:pt x="426839" y="204490"/>
                  <a:pt x="419874" y="206454"/>
                </a:cubicBezTo>
                <a:lnTo>
                  <a:pt x="338524" y="228600"/>
                </a:lnTo>
                <a:lnTo>
                  <a:pt x="419874" y="250746"/>
                </a:lnTo>
                <a:cubicBezTo>
                  <a:pt x="426750" y="252621"/>
                  <a:pt x="432286" y="257889"/>
                  <a:pt x="434608" y="264676"/>
                </a:cubicBezTo>
                <a:lnTo>
                  <a:pt x="456039" y="328970"/>
                </a:lnTo>
                <a:lnTo>
                  <a:pt x="456664" y="331113"/>
                </a:lnTo>
                <a:cubicBezTo>
                  <a:pt x="459075" y="341739"/>
                  <a:pt x="453003" y="352633"/>
                  <a:pt x="442555" y="356116"/>
                </a:cubicBezTo>
                <a:cubicBezTo>
                  <a:pt x="432018" y="359599"/>
                  <a:pt x="420678" y="354509"/>
                  <a:pt x="416213" y="344597"/>
                </a:cubicBezTo>
                <a:lnTo>
                  <a:pt x="415409" y="342543"/>
                </a:lnTo>
                <a:lnTo>
                  <a:pt x="397639" y="289143"/>
                </a:lnTo>
                <a:lnTo>
                  <a:pt x="329416" y="270570"/>
                </a:lnTo>
                <a:lnTo>
                  <a:pt x="386655" y="327809"/>
                </a:lnTo>
                <a:cubicBezTo>
                  <a:pt x="392103" y="333256"/>
                  <a:pt x="394246" y="341293"/>
                  <a:pt x="392192" y="348704"/>
                </a:cubicBezTo>
                <a:lnTo>
                  <a:pt x="356473" y="477292"/>
                </a:lnTo>
                <a:lnTo>
                  <a:pt x="355759" y="479346"/>
                </a:lnTo>
                <a:cubicBezTo>
                  <a:pt x="351830" y="489436"/>
                  <a:pt x="340757" y="495151"/>
                  <a:pt x="330041" y="492204"/>
                </a:cubicBezTo>
                <a:cubicBezTo>
                  <a:pt x="319326" y="489258"/>
                  <a:pt x="312807" y="478631"/>
                  <a:pt x="314682" y="467916"/>
                </a:cubicBezTo>
                <a:lnTo>
                  <a:pt x="315129" y="465772"/>
                </a:lnTo>
                <a:lnTo>
                  <a:pt x="347454" y="349240"/>
                </a:lnTo>
                <a:lnTo>
                  <a:pt x="314236" y="316022"/>
                </a:lnTo>
                <a:cubicBezTo>
                  <a:pt x="313432" y="362545"/>
                  <a:pt x="275392" y="400050"/>
                  <a:pt x="228600" y="400050"/>
                </a:cubicBezTo>
                <a:cubicBezTo>
                  <a:pt x="181808" y="400050"/>
                  <a:pt x="143768" y="362545"/>
                  <a:pt x="142875" y="316022"/>
                </a:cubicBezTo>
                <a:lnTo>
                  <a:pt x="109835" y="349061"/>
                </a:lnTo>
                <a:lnTo>
                  <a:pt x="141982" y="458272"/>
                </a:lnTo>
                <a:lnTo>
                  <a:pt x="142518" y="460415"/>
                </a:lnTo>
                <a:cubicBezTo>
                  <a:pt x="144482" y="471041"/>
                  <a:pt x="138142" y="481757"/>
                  <a:pt x="127516" y="484882"/>
                </a:cubicBezTo>
                <a:cubicBezTo>
                  <a:pt x="116890" y="488007"/>
                  <a:pt x="105727" y="482471"/>
                  <a:pt x="101620" y="472470"/>
                </a:cubicBezTo>
                <a:lnTo>
                  <a:pt x="100905" y="470416"/>
                </a:lnTo>
                <a:lnTo>
                  <a:pt x="65187" y="348972"/>
                </a:lnTo>
                <a:cubicBezTo>
                  <a:pt x="62954" y="341471"/>
                  <a:pt x="65097" y="333345"/>
                  <a:pt x="70634" y="327720"/>
                </a:cubicBezTo>
                <a:lnTo>
                  <a:pt x="127873" y="270480"/>
                </a:lnTo>
                <a:lnTo>
                  <a:pt x="59650" y="289054"/>
                </a:lnTo>
                <a:lnTo>
                  <a:pt x="41880" y="342454"/>
                </a:lnTo>
                <a:lnTo>
                  <a:pt x="41077" y="344507"/>
                </a:lnTo>
                <a:cubicBezTo>
                  <a:pt x="36612" y="354419"/>
                  <a:pt x="25271" y="359509"/>
                  <a:pt x="14734" y="356027"/>
                </a:cubicBezTo>
                <a:cubicBezTo>
                  <a:pt x="4197" y="352544"/>
                  <a:pt x="-1786" y="341650"/>
                  <a:pt x="625" y="331024"/>
                </a:cubicBezTo>
                <a:lnTo>
                  <a:pt x="1250" y="328880"/>
                </a:lnTo>
                <a:lnTo>
                  <a:pt x="22681" y="264587"/>
                </a:lnTo>
                <a:cubicBezTo>
                  <a:pt x="24914" y="257800"/>
                  <a:pt x="30450" y="252621"/>
                  <a:pt x="37415" y="250656"/>
                </a:cubicBezTo>
                <a:lnTo>
                  <a:pt x="118765" y="228511"/>
                </a:lnTo>
                <a:lnTo>
                  <a:pt x="37415" y="206365"/>
                </a:lnTo>
                <a:cubicBezTo>
                  <a:pt x="30540" y="204490"/>
                  <a:pt x="25003" y="199221"/>
                  <a:pt x="22681" y="192435"/>
                </a:cubicBezTo>
                <a:lnTo>
                  <a:pt x="1250" y="128141"/>
                </a:lnTo>
                <a:lnTo>
                  <a:pt x="625" y="125998"/>
                </a:lnTo>
                <a:cubicBezTo>
                  <a:pt x="-1786" y="115372"/>
                  <a:pt x="4286" y="104477"/>
                  <a:pt x="14734" y="100995"/>
                </a:cubicBezTo>
                <a:cubicBezTo>
                  <a:pt x="25182" y="97512"/>
                  <a:pt x="36612" y="102602"/>
                  <a:pt x="41077" y="112514"/>
                </a:cubicBezTo>
                <a:lnTo>
                  <a:pt x="41880" y="114568"/>
                </a:lnTo>
                <a:lnTo>
                  <a:pt x="59650" y="167967"/>
                </a:lnTo>
                <a:lnTo>
                  <a:pt x="127873" y="186541"/>
                </a:lnTo>
                <a:lnTo>
                  <a:pt x="70634" y="129302"/>
                </a:lnTo>
                <a:cubicBezTo>
                  <a:pt x="65097" y="123765"/>
                  <a:pt x="63044" y="115639"/>
                  <a:pt x="65187" y="108139"/>
                </a:cubicBezTo>
                <a:lnTo>
                  <a:pt x="100905" y="-13305"/>
                </a:lnTo>
                <a:lnTo>
                  <a:pt x="101620" y="-15359"/>
                </a:lnTo>
                <a:cubicBezTo>
                  <a:pt x="105727" y="-25450"/>
                  <a:pt x="116890" y="-30897"/>
                  <a:pt x="127516" y="-27771"/>
                </a:cubicBezTo>
                <a:cubicBezTo>
                  <a:pt x="138142" y="-24646"/>
                  <a:pt x="144482" y="-13930"/>
                  <a:pt x="142518" y="-3304"/>
                </a:cubicBezTo>
                <a:lnTo>
                  <a:pt x="141982" y="-1161"/>
                </a:lnTo>
                <a:lnTo>
                  <a:pt x="109835" y="108049"/>
                </a:lnTo>
                <a:lnTo>
                  <a:pt x="157163" y="155377"/>
                </a:lnTo>
                <a:cubicBezTo>
                  <a:pt x="158055" y="116711"/>
                  <a:pt x="189667" y="85636"/>
                  <a:pt x="228511" y="85636"/>
                </a:cubicBezTo>
                <a:cubicBezTo>
                  <a:pt x="267355" y="85636"/>
                  <a:pt x="298966" y="116711"/>
                  <a:pt x="299859" y="155466"/>
                </a:cubicBezTo>
                <a:lnTo>
                  <a:pt x="347276" y="108049"/>
                </a:lnTo>
                <a:lnTo>
                  <a:pt x="315129" y="-1161"/>
                </a:lnTo>
                <a:lnTo>
                  <a:pt x="314593" y="-3304"/>
                </a:lnTo>
                <a:cubicBezTo>
                  <a:pt x="312628" y="-14020"/>
                  <a:pt x="318968" y="-24646"/>
                  <a:pt x="329595" y="-27771"/>
                </a:cubicBezTo>
                <a:close/>
              </a:path>
            </a:pathLst>
          </a:custGeom>
          <a:solidFill>
            <a:srgbClr val="D4943A"/>
          </a:solidFill>
        </p:spPr>
      </p:sp>
      <p:sp>
        <p:nvSpPr>
          <p:cNvPr id="19" name="Text 17"/>
          <p:cNvSpPr/>
          <p:nvPr/>
        </p:nvSpPr>
        <p:spPr>
          <a:xfrm>
            <a:off x="9220200" y="1714500"/>
            <a:ext cx="381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Selenium 详情页爬虫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2349500"/>
            <a:ext cx="660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无头Edge浏览器动态渲染JavaScript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提取：年份、片长、类型、IMDb、短评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反检测机制（webdriver隐藏/指纹伪装）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智能随机等待（2-4秒模拟真人）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短评"加载更多"自动处理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每部电影15条热门短评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5334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协作流程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11200" y="6014720"/>
            <a:ext cx="3725545" cy="56769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3" name="Text 21"/>
          <p:cNvSpPr/>
          <p:nvPr/>
        </p:nvSpPr>
        <p:spPr>
          <a:xfrm>
            <a:off x="1270000" y="5951220"/>
            <a:ext cx="279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①</a:t>
            </a:r>
            <a:r>
              <a:rPr lang="zh-CN" alt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基础层：</a:t>
            </a:r>
            <a:r>
              <a:rPr lang="en-US" altLang="zh-CN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BaseCrawler（</a:t>
            </a:r>
            <a:r>
              <a:rPr lang="zh-CN" alt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通用能力封装）</a:t>
            </a: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40580" y="6154420"/>
            <a:ext cx="558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</p:spPr>
      </p:sp>
      <p:sp>
        <p:nvSpPr>
          <p:cNvPr id="25" name="Shape 23"/>
          <p:cNvSpPr/>
          <p:nvPr/>
        </p:nvSpPr>
        <p:spPr>
          <a:xfrm>
            <a:off x="5318596" y="6042660"/>
            <a:ext cx="4164330" cy="52832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6" name="Text 24"/>
          <p:cNvSpPr/>
          <p:nvPr/>
        </p:nvSpPr>
        <p:spPr>
          <a:xfrm>
            <a:off x="5977671" y="5957570"/>
            <a:ext cx="279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②</a:t>
            </a:r>
            <a:r>
              <a:rPr lang="zh-CN" alt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请求层：</a:t>
            </a:r>
            <a:r>
              <a:rPr lang="en-US" altLang="zh-CN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Requests </a:t>
            </a:r>
            <a:r>
              <a:rPr lang="zh-CN" alt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爬虫（列表页静态爬取）</a:t>
            </a: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66400" y="6087110"/>
            <a:ext cx="558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</p:spPr>
      </p:sp>
      <p:sp>
        <p:nvSpPr>
          <p:cNvPr id="28" name="Shape 26"/>
          <p:cNvSpPr/>
          <p:nvPr/>
        </p:nvSpPr>
        <p:spPr>
          <a:xfrm>
            <a:off x="10397435" y="5951220"/>
            <a:ext cx="5079365" cy="58547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9" name="Text 27"/>
          <p:cNvSpPr/>
          <p:nvPr/>
        </p:nvSpPr>
        <p:spPr>
          <a:xfrm>
            <a:off x="11219815" y="5922010"/>
            <a:ext cx="279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③</a:t>
            </a:r>
            <a:r>
              <a:rPr lang="zh-CN" alt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渲染层：</a:t>
            </a:r>
            <a:r>
              <a:rPr lang="en-US" altLang="zh-CN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Selenium </a:t>
            </a:r>
            <a:r>
              <a:rPr lang="zh-CN" alt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爬虫（详情页动态爬取）</a:t>
            </a: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600" y="7429500"/>
            <a:ext cx="558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</p:spPr>
      </p:sp>
      <p:sp>
        <p:nvSpPr>
          <p:cNvPr id="31" name="Shape 29"/>
          <p:cNvSpPr/>
          <p:nvPr/>
        </p:nvSpPr>
        <p:spPr>
          <a:xfrm>
            <a:off x="762000" y="7264400"/>
            <a:ext cx="4215075" cy="53848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2" name="Text 30"/>
          <p:cNvSpPr/>
          <p:nvPr/>
        </p:nvSpPr>
        <p:spPr>
          <a:xfrm>
            <a:off x="762000" y="7264400"/>
            <a:ext cx="396933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④ </a:t>
            </a:r>
            <a:r>
              <a:rPr lang="zh-CN" alt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资源层：</a:t>
            </a:r>
            <a:r>
              <a:rPr lang="en-US" sz="1500" dirty="0" err="1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ImageDownloader</a:t>
            </a: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（</a:t>
            </a:r>
            <a:r>
              <a:rPr lang="zh-CN" alt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海报批量下载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70000" y="880872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" name="Text 32"/>
          <p:cNvSpPr/>
          <p:nvPr/>
        </p:nvSpPr>
        <p:spPr>
          <a:xfrm>
            <a:off x="4529455" y="93726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06</a:t>
            </a:r>
            <a:endParaRPr lang="en-US" sz="1400" dirty="0"/>
          </a:p>
        </p:txBody>
      </p:sp>
      <p:sp>
        <p:nvSpPr>
          <p:cNvPr id="35" name="Shape 22"/>
          <p:cNvSpPr/>
          <p:nvPr/>
        </p:nvSpPr>
        <p:spPr>
          <a:xfrm>
            <a:off x="9680893" y="6087110"/>
            <a:ext cx="558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基础层：</a:t>
            </a:r>
            <a:r>
              <a:rPr lang="en-US" altLang="zh-CN" sz="2800" b="1" dirty="0" err="1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BaseCrawler</a:t>
            </a:r>
            <a:r>
              <a:rPr lang="en-US" altLang="zh-CN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 </a:t>
            </a:r>
            <a:r>
              <a:rPr lang="zh-CN" altLang="en-US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爬虫基类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Text 11"/>
          <p:cNvSpPr/>
          <p:nvPr/>
        </p:nvSpPr>
        <p:spPr>
          <a:xfrm>
            <a:off x="762000" y="1498600"/>
            <a:ext cx="7112000" cy="450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altLang="zh-CN" sz="1600" dirty="0" err="1"/>
              <a:t>BaseCrawler</a:t>
            </a:r>
            <a:r>
              <a:rPr lang="en-US" altLang="zh-CN" sz="1600" dirty="0"/>
              <a:t> </a:t>
            </a:r>
            <a:r>
              <a:rPr lang="zh-CN" altLang="en-US" sz="1600" dirty="0"/>
              <a:t>作为所有爬虫的父类，统一封装随机 </a:t>
            </a:r>
            <a:r>
              <a:rPr lang="en-US" altLang="zh-CN" sz="1600" dirty="0"/>
              <a:t>UA</a:t>
            </a:r>
            <a:r>
              <a:rPr lang="zh-CN" altLang="en-US" sz="1600" dirty="0"/>
              <a:t>、代理 </a:t>
            </a:r>
            <a:r>
              <a:rPr lang="en-US" altLang="zh-CN" sz="1600" dirty="0"/>
              <a:t>IP </a:t>
            </a:r>
            <a:r>
              <a:rPr lang="zh-CN" altLang="en-US" sz="1600" dirty="0"/>
              <a:t>管理、失败计数、自动轮换、反爬刷新等通用能力，避免重复代码，保证所有子类拥有一致、稳定的反爬基础环境。通过代理失败阈值控制，实现代理智能切换；通过统一刷新接口，实现访问身份快速重置，大幅提升爬取成功率与稳定性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1320800"/>
            <a:ext cx="7112000" cy="553720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15" name="Shape 13"/>
          <p:cNvSpPr/>
          <p:nvPr/>
        </p:nvSpPr>
        <p:spPr>
          <a:xfrm>
            <a:off x="8382000" y="1498600"/>
            <a:ext cx="50800" cy="4318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6" name="Text 14"/>
          <p:cNvSpPr/>
          <p:nvPr/>
        </p:nvSpPr>
        <p:spPr>
          <a:xfrm>
            <a:off x="8636000" y="1481364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36000" y="1930400"/>
            <a:ext cx="6604000" cy="5732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zh-CN" sz="1400" dirty="0">
                <a:solidFill>
                  <a:schemeClr val="bg1"/>
                </a:solidFill>
              </a:rPr>
              <a:t># </a:t>
            </a:r>
            <a:r>
              <a:rPr lang="zh-CN" altLang="en-US" sz="1400" dirty="0">
                <a:solidFill>
                  <a:schemeClr val="bg1"/>
                </a:solidFill>
              </a:rPr>
              <a:t>初始化：随机</a:t>
            </a:r>
            <a:r>
              <a:rPr lang="en-US" altLang="zh-CN" sz="1400" dirty="0">
                <a:solidFill>
                  <a:schemeClr val="bg1"/>
                </a:solidFill>
              </a:rPr>
              <a:t>UA + </a:t>
            </a:r>
            <a:r>
              <a:rPr lang="zh-CN" altLang="en-US" sz="1400" dirty="0">
                <a:solidFill>
                  <a:schemeClr val="bg1"/>
                </a:solidFill>
              </a:rPr>
              <a:t>代理 </a:t>
            </a:r>
            <a:r>
              <a:rPr lang="en-US" altLang="zh-CN" sz="1400" dirty="0">
                <a:solidFill>
                  <a:schemeClr val="bg1"/>
                </a:solidFill>
              </a:rPr>
              <a:t>+ </a:t>
            </a:r>
            <a:r>
              <a:rPr lang="zh-CN" altLang="en-US" sz="1400" dirty="0">
                <a:solidFill>
                  <a:schemeClr val="bg1"/>
                </a:solidFill>
              </a:rPr>
              <a:t>重试计数</a:t>
            </a:r>
            <a:br>
              <a:rPr lang="zh-CN" altLang="en-US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def __</a:t>
            </a:r>
            <a:r>
              <a:rPr lang="en-US" altLang="zh-CN" sz="1400" dirty="0" err="1">
                <a:solidFill>
                  <a:schemeClr val="bg1"/>
                </a:solidFill>
              </a:rPr>
              <a:t>init</a:t>
            </a:r>
            <a:r>
              <a:rPr lang="en-US" altLang="zh-CN" sz="1400" dirty="0">
                <a:solidFill>
                  <a:schemeClr val="bg1"/>
                </a:solidFill>
              </a:rPr>
              <a:t>__(self):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</a:rPr>
              <a:t>self.headers</a:t>
            </a:r>
            <a:r>
              <a:rPr lang="en-US" altLang="zh-CN" sz="1400" dirty="0">
                <a:solidFill>
                  <a:schemeClr val="bg1"/>
                </a:solidFill>
              </a:rPr>
              <a:t> = {"User-Agent": </a:t>
            </a:r>
            <a:r>
              <a:rPr lang="en-US" altLang="zh-CN" sz="1400" dirty="0" err="1">
                <a:solidFill>
                  <a:schemeClr val="bg1"/>
                </a:solidFill>
              </a:rPr>
              <a:t>get_random_ua</a:t>
            </a:r>
            <a:r>
              <a:rPr lang="en-US" altLang="zh-CN" sz="1400" dirty="0">
                <a:solidFill>
                  <a:schemeClr val="bg1"/>
                </a:solidFill>
              </a:rPr>
              <a:t>()}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</a:rPr>
              <a:t>self.proxy</a:t>
            </a:r>
            <a:r>
              <a:rPr lang="en-US" altLang="zh-CN" sz="1400" dirty="0">
                <a:solidFill>
                  <a:schemeClr val="bg1"/>
                </a:solidFill>
              </a:rPr>
              <a:t> = </a:t>
            </a:r>
            <a:r>
              <a:rPr lang="en-US" altLang="zh-CN" sz="1400" dirty="0" err="1">
                <a:solidFill>
                  <a:schemeClr val="bg1"/>
                </a:solidFill>
              </a:rPr>
              <a:t>get_random_proxy</a:t>
            </a:r>
            <a:r>
              <a:rPr lang="en-US" altLang="zh-CN" sz="1400" dirty="0">
                <a:solidFill>
                  <a:schemeClr val="bg1"/>
                </a:solidFill>
              </a:rPr>
              <a:t>()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</a:rPr>
              <a:t>self.retry_count</a:t>
            </a:r>
            <a:r>
              <a:rPr lang="en-US" altLang="zh-CN" sz="1400" dirty="0">
                <a:solidFill>
                  <a:schemeClr val="bg1"/>
                </a:solidFill>
              </a:rPr>
              <a:t> = 3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</a:rPr>
              <a:t>self.proxy_failure_count</a:t>
            </a:r>
            <a:r>
              <a:rPr lang="en-US" altLang="zh-CN" sz="1400" dirty="0">
                <a:solidFill>
                  <a:schemeClr val="bg1"/>
                </a:solidFill>
              </a:rPr>
              <a:t> = 0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</a:rPr>
              <a:t>self.max_proxy_failure</a:t>
            </a:r>
            <a:r>
              <a:rPr lang="en-US" altLang="zh-CN" sz="1400" dirty="0">
                <a:solidFill>
                  <a:schemeClr val="bg1"/>
                </a:solidFill>
              </a:rPr>
              <a:t> = 5</a:t>
            </a:r>
            <a:br>
              <a:rPr lang="en-US" altLang="zh-CN" sz="1400" dirty="0">
                <a:solidFill>
                  <a:schemeClr val="bg1"/>
                </a:solidFill>
              </a:rPr>
            </a:b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# </a:t>
            </a:r>
            <a:r>
              <a:rPr lang="zh-CN" altLang="en-US" sz="1400" dirty="0">
                <a:solidFill>
                  <a:schemeClr val="bg1"/>
                </a:solidFill>
              </a:rPr>
              <a:t>代理失败超过</a:t>
            </a:r>
            <a:r>
              <a:rPr lang="en-US" altLang="zh-CN" sz="1400" dirty="0">
                <a:solidFill>
                  <a:schemeClr val="bg1"/>
                </a:solidFill>
              </a:rPr>
              <a:t>5</a:t>
            </a:r>
            <a:r>
              <a:rPr lang="zh-CN" altLang="en-US" sz="1400" dirty="0">
                <a:solidFill>
                  <a:schemeClr val="bg1"/>
                </a:solidFill>
              </a:rPr>
              <a:t>次自动轮换</a:t>
            </a:r>
            <a:br>
              <a:rPr lang="zh-CN" altLang="en-US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def </a:t>
            </a:r>
            <a:r>
              <a:rPr lang="en-US" altLang="zh-CN" sz="1400" dirty="0" err="1">
                <a:solidFill>
                  <a:schemeClr val="bg1"/>
                </a:solidFill>
              </a:rPr>
              <a:t>get_proxies</a:t>
            </a:r>
            <a:r>
              <a:rPr lang="en-US" altLang="zh-CN" sz="1400" dirty="0">
                <a:solidFill>
                  <a:schemeClr val="bg1"/>
                </a:solidFill>
              </a:rPr>
              <a:t>(self):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if </a:t>
            </a:r>
            <a:r>
              <a:rPr lang="en-US" altLang="zh-CN" sz="1400" dirty="0" err="1">
                <a:solidFill>
                  <a:schemeClr val="bg1"/>
                </a:solidFill>
              </a:rPr>
              <a:t>self.proxy_failure_count</a:t>
            </a:r>
            <a:r>
              <a:rPr lang="en-US" altLang="zh-CN" sz="1400" dirty="0">
                <a:solidFill>
                  <a:schemeClr val="bg1"/>
                </a:solidFill>
              </a:rPr>
              <a:t> &gt;= </a:t>
            </a:r>
            <a:r>
              <a:rPr lang="en-US" altLang="zh-CN" sz="1400" dirty="0" err="1">
                <a:solidFill>
                  <a:schemeClr val="bg1"/>
                </a:solidFill>
              </a:rPr>
              <a:t>self.max_proxy_failure</a:t>
            </a:r>
            <a:r>
              <a:rPr lang="en-US" altLang="zh-CN" sz="1400" dirty="0">
                <a:solidFill>
                  <a:schemeClr val="bg1"/>
                </a:solidFill>
              </a:rPr>
              <a:t>: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    </a:t>
            </a:r>
            <a:r>
              <a:rPr lang="en-US" altLang="zh-CN" sz="1400" dirty="0" err="1">
                <a:solidFill>
                  <a:schemeClr val="bg1"/>
                </a:solidFill>
              </a:rPr>
              <a:t>self.proxy</a:t>
            </a:r>
            <a:r>
              <a:rPr lang="en-US" altLang="zh-CN" sz="1400" dirty="0">
                <a:solidFill>
                  <a:schemeClr val="bg1"/>
                </a:solidFill>
              </a:rPr>
              <a:t> = </a:t>
            </a:r>
            <a:r>
              <a:rPr lang="en-US" altLang="zh-CN" sz="1400" dirty="0" err="1">
                <a:solidFill>
                  <a:schemeClr val="bg1"/>
                </a:solidFill>
              </a:rPr>
              <a:t>get_random_proxy</a:t>
            </a:r>
            <a:r>
              <a:rPr lang="en-US" altLang="zh-CN" sz="1400" dirty="0">
                <a:solidFill>
                  <a:schemeClr val="bg1"/>
                </a:solidFill>
              </a:rPr>
              <a:t>()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    </a:t>
            </a:r>
            <a:r>
              <a:rPr lang="en-US" altLang="zh-CN" sz="1400" dirty="0" err="1">
                <a:solidFill>
                  <a:schemeClr val="bg1"/>
                </a:solidFill>
              </a:rPr>
              <a:t>self.proxy_failure_count</a:t>
            </a:r>
            <a:r>
              <a:rPr lang="en-US" altLang="zh-CN" sz="1400" dirty="0">
                <a:solidFill>
                  <a:schemeClr val="bg1"/>
                </a:solidFill>
              </a:rPr>
              <a:t> = 0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return </a:t>
            </a:r>
            <a:r>
              <a:rPr lang="en-US" altLang="zh-CN" sz="1400" dirty="0" err="1">
                <a:solidFill>
                  <a:schemeClr val="bg1"/>
                </a:solidFill>
              </a:rPr>
              <a:t>self.proxy</a:t>
            </a:r>
            <a:br>
              <a:rPr lang="en-US" altLang="zh-CN" sz="1400" dirty="0">
                <a:solidFill>
                  <a:schemeClr val="bg1"/>
                </a:solidFill>
              </a:rPr>
            </a:b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# </a:t>
            </a:r>
            <a:r>
              <a:rPr lang="zh-CN" altLang="en-US" sz="1400" dirty="0">
                <a:solidFill>
                  <a:schemeClr val="bg1"/>
                </a:solidFill>
              </a:rPr>
              <a:t>一键更新代理与</a:t>
            </a:r>
            <a:r>
              <a:rPr lang="en-US" altLang="zh-CN" sz="1400" dirty="0">
                <a:solidFill>
                  <a:schemeClr val="bg1"/>
                </a:solidFill>
              </a:rPr>
              <a:t>UA</a:t>
            </a:r>
            <a:r>
              <a:rPr lang="zh-CN" altLang="en-US" sz="1400" dirty="0">
                <a:solidFill>
                  <a:schemeClr val="bg1"/>
                </a:solidFill>
              </a:rPr>
              <a:t>（反爬核心）</a:t>
            </a:r>
            <a:br>
              <a:rPr lang="zh-CN" altLang="en-US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def </a:t>
            </a:r>
            <a:r>
              <a:rPr lang="en-US" altLang="zh-CN" sz="1400" dirty="0" err="1">
                <a:solidFill>
                  <a:schemeClr val="bg1"/>
                </a:solidFill>
              </a:rPr>
              <a:t>update_proxy_and_ua</a:t>
            </a:r>
            <a:r>
              <a:rPr lang="en-US" altLang="zh-CN" sz="1400" dirty="0">
                <a:solidFill>
                  <a:schemeClr val="bg1"/>
                </a:solidFill>
              </a:rPr>
              <a:t>(self):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</a:rPr>
              <a:t>self.proxy</a:t>
            </a:r>
            <a:r>
              <a:rPr lang="en-US" altLang="zh-CN" sz="1400" dirty="0">
                <a:solidFill>
                  <a:schemeClr val="bg1"/>
                </a:solidFill>
              </a:rPr>
              <a:t> = </a:t>
            </a:r>
            <a:r>
              <a:rPr lang="en-US" altLang="zh-CN" sz="1400" dirty="0" err="1">
                <a:solidFill>
                  <a:schemeClr val="bg1"/>
                </a:solidFill>
              </a:rPr>
              <a:t>get_random_proxy</a:t>
            </a:r>
            <a:r>
              <a:rPr lang="en-US" altLang="zh-CN" sz="1400" dirty="0">
                <a:solidFill>
                  <a:schemeClr val="bg1"/>
                </a:solidFill>
              </a:rPr>
              <a:t>()</a:t>
            </a:r>
            <a:br>
              <a:rPr lang="en-US" altLang="zh-CN" sz="1400" dirty="0">
                <a:solidFill>
                  <a:schemeClr val="bg1"/>
                </a:solidFill>
              </a:rPr>
            </a:br>
            <a:r>
              <a:rPr lang="en-US" altLang="zh-CN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</a:rPr>
              <a:t>self.headers</a:t>
            </a:r>
            <a:r>
              <a:rPr lang="en-US" altLang="zh-CN" sz="1400" dirty="0">
                <a:solidFill>
                  <a:schemeClr val="bg1"/>
                </a:solidFill>
              </a:rPr>
              <a:t>["User-Agent"] = </a:t>
            </a:r>
            <a:r>
              <a:rPr lang="en-US" altLang="zh-CN" sz="1400" dirty="0" err="1">
                <a:solidFill>
                  <a:schemeClr val="bg1"/>
                </a:solidFill>
              </a:rPr>
              <a:t>get_random_ua</a:t>
            </a:r>
            <a:r>
              <a:rPr lang="en-US" altLang="zh-CN" sz="1400" dirty="0">
                <a:solidFill>
                  <a:schemeClr val="bg1"/>
                </a:solidFill>
              </a:rPr>
              <a:t>()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0" name="Text 18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请求层：</a:t>
            </a:r>
            <a:r>
              <a:rPr lang="en-US" altLang="zh-CN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Requests </a:t>
            </a:r>
            <a:r>
              <a:rPr lang="zh-CN" altLang="en-US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列表页爬虫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Text 11"/>
          <p:cNvSpPr/>
          <p:nvPr/>
        </p:nvSpPr>
        <p:spPr>
          <a:xfrm>
            <a:off x="762000" y="1498600"/>
            <a:ext cx="7112000" cy="450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代码 </a:t>
            </a:r>
            <a:r>
              <a:rPr lang="en-US" altLang="zh-CN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1</a:t>
            </a: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：增强请求（重试 </a:t>
            </a:r>
            <a:r>
              <a:rPr lang="en-US" altLang="zh-CN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+ </a:t>
            </a: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代理 </a:t>
            </a:r>
            <a:r>
              <a:rPr lang="en-US" altLang="zh-CN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+ </a:t>
            </a: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反爬识别</a:t>
            </a:r>
            <a:r>
              <a:rPr lang="zh-CN" altLang="en-US" sz="1600" b="1" dirty="0">
                <a:solidFill>
                  <a:srgbClr val="0F4C3A"/>
                </a:solidFill>
                <a:latin typeface="+mj-ea"/>
                <a:ea typeface="+mj-ea"/>
                <a:cs typeface="Segoe Print" panose="02000600000000000000" charset="0"/>
              </a:rPr>
              <a:t>）</a:t>
            </a:r>
            <a:endParaRPr lang="en-US" altLang="zh-CN" sz="1600" b="1" dirty="0">
              <a:solidFill>
                <a:srgbClr val="0F4C3A"/>
              </a:solidFill>
              <a:latin typeface="+mj-ea"/>
              <a:ea typeface="+mj-ea"/>
              <a:cs typeface="Segoe Print" panose="02000600000000000000" charset="0"/>
            </a:endParaRPr>
          </a:p>
          <a:p>
            <a:pPr>
              <a:lnSpc>
                <a:spcPct val="160000"/>
              </a:lnSpc>
            </a:pPr>
            <a:r>
              <a:rPr lang="zh-CN" altLang="en-US" sz="1600" dirty="0"/>
              <a:t>该方法是整个静态爬取的请求入口，通过加载 </a:t>
            </a:r>
            <a:r>
              <a:rPr lang="en-US" altLang="zh-CN" sz="1600" dirty="0"/>
              <a:t>Cookie</a:t>
            </a:r>
            <a:r>
              <a:rPr lang="zh-CN" altLang="en-US" sz="1600" dirty="0"/>
              <a:t>、携带代理、循环重试、异常访问检测实现高稳定性请求。当页面出现反爬提示时，自动刷新代理与 </a:t>
            </a:r>
            <a:r>
              <a:rPr lang="en-US" altLang="zh-CN" sz="1600" dirty="0"/>
              <a:t>UA </a:t>
            </a:r>
            <a:r>
              <a:rPr lang="zh-CN" altLang="en-US" sz="1600" dirty="0"/>
              <a:t>并延长等待时间；请求异常时标记代理失效并切换，确保在各种限制下仍能稳定获取页面数据。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0422" y="3441700"/>
            <a:ext cx="7112000" cy="482600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15" name="Shape 13"/>
          <p:cNvSpPr/>
          <p:nvPr/>
        </p:nvSpPr>
        <p:spPr>
          <a:xfrm>
            <a:off x="650422" y="3619500"/>
            <a:ext cx="50800" cy="4318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6" name="Text 14"/>
          <p:cNvSpPr/>
          <p:nvPr/>
        </p:nvSpPr>
        <p:spPr>
          <a:xfrm>
            <a:off x="904422" y="3602264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4422" y="4051300"/>
            <a:ext cx="6604000" cy="5732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zh-CN" sz="1400" dirty="0">
                <a:solidFill>
                  <a:schemeClr val="bg1"/>
                </a:solidFill>
              </a:rPr>
              <a:t>def _</a:t>
            </a:r>
            <a:r>
              <a:rPr lang="en-US" altLang="zh-CN" sz="1400" dirty="0" err="1">
                <a:solidFill>
                  <a:schemeClr val="bg1"/>
                </a:solidFill>
              </a:rPr>
              <a:t>requests_get</a:t>
            </a:r>
            <a:r>
              <a:rPr lang="en-US" altLang="zh-CN" sz="1400" dirty="0">
                <a:solidFill>
                  <a:schemeClr val="bg1"/>
                </a:solidFill>
              </a:rPr>
              <a:t>(self, </a:t>
            </a:r>
            <a:r>
              <a:rPr lang="en-US" altLang="zh-CN" sz="1400" dirty="0" err="1">
                <a:solidFill>
                  <a:schemeClr val="bg1"/>
                </a:solidFill>
              </a:rPr>
              <a:t>url</a:t>
            </a:r>
            <a:r>
              <a:rPr lang="en-US" altLang="zh-CN" sz="1400" dirty="0">
                <a:solidFill>
                  <a:schemeClr val="bg1"/>
                </a:solidFill>
              </a:rPr>
              <a:t>):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headers = </a:t>
            </a:r>
            <a:r>
              <a:rPr lang="en-US" altLang="zh-CN" sz="1400" dirty="0" err="1">
                <a:solidFill>
                  <a:schemeClr val="bg1"/>
                </a:solidFill>
              </a:rPr>
              <a:t>self.headers.copy</a:t>
            </a:r>
            <a:r>
              <a:rPr lang="en-US" altLang="zh-CN" sz="1400" dirty="0">
                <a:solidFill>
                  <a:schemeClr val="bg1"/>
                </a:solidFill>
              </a:rPr>
              <a:t>()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headers["Cookie"] = "; ".join(f"{k}={v}" for k, v in </a:t>
            </a:r>
            <a:r>
              <a:rPr lang="en-US" altLang="zh-CN" sz="1400" dirty="0" err="1">
                <a:solidFill>
                  <a:schemeClr val="bg1"/>
                </a:solidFill>
              </a:rPr>
              <a:t>load_cookies</a:t>
            </a:r>
            <a:r>
              <a:rPr lang="en-US" altLang="zh-CN" sz="1400" dirty="0">
                <a:solidFill>
                  <a:schemeClr val="bg1"/>
                </a:solidFill>
              </a:rPr>
              <a:t>().items())</a:t>
            </a:r>
            <a:endParaRPr lang="en-US" altLang="zh-CN" sz="1400" dirty="0">
              <a:solidFill>
                <a:schemeClr val="bg1"/>
              </a:solidFill>
            </a:endParaRPr>
          </a:p>
          <a:p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for attempt in range(</a:t>
            </a:r>
            <a:r>
              <a:rPr lang="en-US" altLang="zh-CN" sz="1400" dirty="0" err="1">
                <a:solidFill>
                  <a:schemeClr val="bg1"/>
                </a:solidFill>
              </a:rPr>
              <a:t>self.retry_count</a:t>
            </a:r>
            <a:r>
              <a:rPr lang="en-US" altLang="zh-CN" sz="1400" dirty="0">
                <a:solidFill>
                  <a:schemeClr val="bg1"/>
                </a:solidFill>
              </a:rPr>
              <a:t>):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try: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    resp = </a:t>
            </a:r>
            <a:r>
              <a:rPr lang="en-US" altLang="zh-CN" sz="1400" dirty="0" err="1">
                <a:solidFill>
                  <a:schemeClr val="bg1"/>
                </a:solidFill>
              </a:rPr>
              <a:t>requests.get</a:t>
            </a:r>
            <a:r>
              <a:rPr lang="en-US" altLang="zh-CN" sz="1400" dirty="0">
                <a:solidFill>
                  <a:schemeClr val="bg1"/>
                </a:solidFill>
              </a:rPr>
              <a:t>(</a:t>
            </a:r>
            <a:r>
              <a:rPr lang="en-US" altLang="zh-CN" sz="1400" dirty="0" err="1">
                <a:solidFill>
                  <a:schemeClr val="bg1"/>
                </a:solidFill>
              </a:rPr>
              <a:t>url</a:t>
            </a:r>
            <a:r>
              <a:rPr lang="en-US" altLang="zh-CN" sz="1400" dirty="0">
                <a:solidFill>
                  <a:schemeClr val="bg1"/>
                </a:solidFill>
              </a:rPr>
              <a:t>, headers=headers, proxies=</a:t>
            </a:r>
            <a:r>
              <a:rPr lang="en-US" altLang="zh-CN" sz="1400" dirty="0" err="1">
                <a:solidFill>
                  <a:schemeClr val="bg1"/>
                </a:solidFill>
              </a:rPr>
              <a:t>self.get_proxies</a:t>
            </a:r>
            <a:r>
              <a:rPr lang="en-US" altLang="zh-CN" sz="1400" dirty="0">
                <a:solidFill>
                  <a:schemeClr val="bg1"/>
                </a:solidFill>
              </a:rPr>
              <a:t>())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    # </a:t>
            </a:r>
            <a:r>
              <a:rPr lang="zh-CN" altLang="en-US" sz="1400" dirty="0">
                <a:solidFill>
                  <a:schemeClr val="bg1"/>
                </a:solidFill>
              </a:rPr>
              <a:t>触发反爬则更换代理并等待</a:t>
            </a:r>
            <a:endParaRPr lang="zh-CN" altLang="en-US" sz="1400" dirty="0">
              <a:solidFill>
                <a:schemeClr val="bg1"/>
              </a:solidFill>
            </a:endParaRPr>
          </a:p>
          <a:p>
            <a:r>
              <a:rPr lang="zh-CN" altLang="en-US" sz="1400" dirty="0">
                <a:solidFill>
                  <a:schemeClr val="bg1"/>
                </a:solidFill>
              </a:rPr>
              <a:t>            </a:t>
            </a:r>
            <a:r>
              <a:rPr lang="en-US" altLang="zh-CN" sz="1400" dirty="0">
                <a:solidFill>
                  <a:schemeClr val="bg1"/>
                </a:solidFill>
              </a:rPr>
              <a:t>if "</a:t>
            </a:r>
            <a:r>
              <a:rPr lang="zh-CN" altLang="en-US" sz="1400" dirty="0">
                <a:solidFill>
                  <a:schemeClr val="bg1"/>
                </a:solidFill>
              </a:rPr>
              <a:t>检测到异常访问</a:t>
            </a:r>
            <a:r>
              <a:rPr lang="en-US" altLang="zh-CN" sz="1400" dirty="0">
                <a:solidFill>
                  <a:schemeClr val="bg1"/>
                </a:solidFill>
              </a:rPr>
              <a:t>" in </a:t>
            </a:r>
            <a:r>
              <a:rPr lang="en-US" altLang="zh-CN" sz="1400" dirty="0" err="1">
                <a:solidFill>
                  <a:schemeClr val="bg1"/>
                </a:solidFill>
              </a:rPr>
              <a:t>resp.text</a:t>
            </a:r>
            <a:r>
              <a:rPr lang="en-US" altLang="zh-CN" sz="1400" dirty="0">
                <a:solidFill>
                  <a:schemeClr val="bg1"/>
                </a:solidFill>
              </a:rPr>
              <a:t>: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        </a:t>
            </a:r>
            <a:r>
              <a:rPr lang="en-US" altLang="zh-CN" sz="1400" dirty="0" err="1">
                <a:solidFill>
                  <a:schemeClr val="bg1"/>
                </a:solidFill>
              </a:rPr>
              <a:t>self.update_proxy_and_ua</a:t>
            </a:r>
            <a:r>
              <a:rPr lang="en-US" altLang="zh-CN" sz="1400" dirty="0">
                <a:solidFill>
                  <a:schemeClr val="bg1"/>
                </a:solidFill>
              </a:rPr>
              <a:t>()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        </a:t>
            </a:r>
            <a:r>
              <a:rPr lang="en-US" altLang="zh-CN" sz="1400" dirty="0" err="1">
                <a:solidFill>
                  <a:schemeClr val="bg1"/>
                </a:solidFill>
              </a:rPr>
              <a:t>self.random_sleep</a:t>
            </a:r>
            <a:r>
              <a:rPr lang="en-US" altLang="zh-CN" sz="1400" dirty="0">
                <a:solidFill>
                  <a:schemeClr val="bg1"/>
                </a:solidFill>
              </a:rPr>
              <a:t>(5, 10)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        continue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    return resp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except: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    </a:t>
            </a:r>
            <a:r>
              <a:rPr lang="en-US" altLang="zh-CN" sz="1400" dirty="0" err="1">
                <a:solidFill>
                  <a:schemeClr val="bg1"/>
                </a:solidFill>
              </a:rPr>
              <a:t>self.mark_proxy_failure</a:t>
            </a:r>
            <a:r>
              <a:rPr lang="en-US" altLang="zh-CN" sz="1400" dirty="0">
                <a:solidFill>
                  <a:schemeClr val="bg1"/>
                </a:solidFill>
              </a:rPr>
              <a:t>()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        </a:t>
            </a:r>
            <a:r>
              <a:rPr lang="en-US" altLang="zh-CN" sz="1400" dirty="0" err="1">
                <a:solidFill>
                  <a:schemeClr val="bg1"/>
                </a:solidFill>
              </a:rPr>
              <a:t>self.update_proxy_and_ua</a:t>
            </a:r>
            <a:r>
              <a:rPr lang="en-US" altLang="zh-CN" sz="1400" dirty="0">
                <a:solidFill>
                  <a:schemeClr val="bg1"/>
                </a:solidFill>
              </a:rPr>
              <a:t>()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return None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0" name="Text 18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07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8524422" y="1498600"/>
            <a:ext cx="7112000" cy="450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代码 </a:t>
            </a:r>
            <a:r>
              <a:rPr lang="en-US" altLang="zh-CN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2</a:t>
            </a: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：数据解析（字段提取 </a:t>
            </a:r>
            <a:r>
              <a:rPr lang="en-US" altLang="zh-CN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+ </a:t>
            </a: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容错处理）</a:t>
            </a:r>
            <a:endParaRPr lang="en-US" altLang="zh-CN" sz="1600" b="1" dirty="0">
              <a:solidFill>
                <a:srgbClr val="0F4C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Print" panose="02000600000000000000" charset="0"/>
            </a:endParaRPr>
          </a:p>
          <a:p>
            <a:pPr>
              <a:lnSpc>
                <a:spcPct val="160000"/>
              </a:lnSpc>
            </a:pPr>
            <a:r>
              <a:rPr lang="zh-CN" altLang="en-US" sz="1600" dirty="0"/>
              <a:t>该方法是整个静态爬取的请求入口，通过加载 </a:t>
            </a:r>
            <a:r>
              <a:rPr lang="en-US" altLang="zh-CN" sz="1600" dirty="0"/>
              <a:t>Cookie</a:t>
            </a:r>
            <a:r>
              <a:rPr lang="zh-CN" altLang="en-US" sz="1600" dirty="0"/>
              <a:t>、携带代理、循环重试、异常访问检测实现高稳定性请求。当页面出现反爬提示时，自动刷新代理与 </a:t>
            </a:r>
            <a:r>
              <a:rPr lang="en-US" altLang="zh-CN" sz="1600" dirty="0"/>
              <a:t>UA </a:t>
            </a:r>
            <a:r>
              <a:rPr lang="zh-CN" altLang="en-US" sz="1600" dirty="0"/>
              <a:t>并延长等待时间；请求异常时标记代理失效并切换，确保在各种限制下仍能稳定获取页面数据。</a:t>
            </a:r>
            <a:endParaRPr lang="en-US" sz="1800" dirty="0"/>
          </a:p>
        </p:txBody>
      </p:sp>
      <p:sp>
        <p:nvSpPr>
          <p:cNvPr id="21" name="Shape 12"/>
          <p:cNvSpPr/>
          <p:nvPr/>
        </p:nvSpPr>
        <p:spPr>
          <a:xfrm>
            <a:off x="8412844" y="3441700"/>
            <a:ext cx="7112000" cy="482600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2" name="Shape 13"/>
          <p:cNvSpPr/>
          <p:nvPr/>
        </p:nvSpPr>
        <p:spPr>
          <a:xfrm>
            <a:off x="8412844" y="3619500"/>
            <a:ext cx="50800" cy="4318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3" name="Text 14"/>
          <p:cNvSpPr/>
          <p:nvPr/>
        </p:nvSpPr>
        <p:spPr>
          <a:xfrm>
            <a:off x="8666844" y="3602264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8666844" y="4203700"/>
            <a:ext cx="6604000" cy="5732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altLang="zh-CN" sz="1400" dirty="0">
                <a:solidFill>
                  <a:schemeClr val="bg1"/>
                </a:solidFill>
              </a:rPr>
              <a:t>def _</a:t>
            </a:r>
            <a:r>
              <a:rPr lang="en-US" altLang="zh-CN" sz="1400" dirty="0" err="1">
                <a:solidFill>
                  <a:schemeClr val="bg1"/>
                </a:solidFill>
              </a:rPr>
              <a:t>parse_item</a:t>
            </a:r>
            <a:r>
              <a:rPr lang="en-US" altLang="zh-CN" sz="1400" dirty="0">
                <a:solidFill>
                  <a:schemeClr val="bg1"/>
                </a:solidFill>
              </a:rPr>
              <a:t>(self, item):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movie = {}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# </a:t>
            </a:r>
            <a:r>
              <a:rPr lang="zh-CN" altLang="en-US" sz="1400" dirty="0">
                <a:solidFill>
                  <a:schemeClr val="bg1"/>
                </a:solidFill>
              </a:rPr>
              <a:t>提取排名</a:t>
            </a:r>
            <a:endParaRPr lang="zh-CN" altLang="en-US" sz="1400" dirty="0">
              <a:solidFill>
                <a:schemeClr val="bg1"/>
              </a:solidFill>
            </a:endParaRPr>
          </a:p>
          <a:p>
            <a:r>
              <a:rPr lang="zh-CN" altLang="en-US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>
                <a:solidFill>
                  <a:schemeClr val="bg1"/>
                </a:solidFill>
              </a:rPr>
              <a:t>movie["</a:t>
            </a:r>
            <a:r>
              <a:rPr lang="en-US" altLang="zh-CN" sz="1400" dirty="0" err="1">
                <a:solidFill>
                  <a:schemeClr val="bg1"/>
                </a:solidFill>
              </a:rPr>
              <a:t>rank_num</a:t>
            </a:r>
            <a:r>
              <a:rPr lang="en-US" altLang="zh-CN" sz="1400" dirty="0">
                <a:solidFill>
                  <a:schemeClr val="bg1"/>
                </a:solidFill>
              </a:rPr>
              <a:t>"] = int(</a:t>
            </a:r>
            <a:r>
              <a:rPr lang="en-US" altLang="zh-CN" sz="1400" dirty="0" err="1">
                <a:solidFill>
                  <a:schemeClr val="bg1"/>
                </a:solidFill>
              </a:rPr>
              <a:t>item.find</a:t>
            </a:r>
            <a:r>
              <a:rPr lang="en-US" altLang="zh-CN" sz="1400" dirty="0">
                <a:solidFill>
                  <a:schemeClr val="bg1"/>
                </a:solidFill>
              </a:rPr>
              <a:t>("</a:t>
            </a:r>
            <a:r>
              <a:rPr lang="en-US" altLang="zh-CN" sz="1400" dirty="0" err="1">
                <a:solidFill>
                  <a:schemeClr val="bg1"/>
                </a:solidFill>
              </a:rPr>
              <a:t>em</a:t>
            </a:r>
            <a:r>
              <a:rPr lang="en-US" altLang="zh-CN" sz="1400" dirty="0">
                <a:solidFill>
                  <a:schemeClr val="bg1"/>
                </a:solidFill>
              </a:rPr>
              <a:t>").text) if </a:t>
            </a:r>
            <a:r>
              <a:rPr lang="en-US" altLang="zh-CN" sz="1400" dirty="0" err="1">
                <a:solidFill>
                  <a:schemeClr val="bg1"/>
                </a:solidFill>
              </a:rPr>
              <a:t>item.find</a:t>
            </a:r>
            <a:r>
              <a:rPr lang="en-US" altLang="zh-CN" sz="1400" dirty="0">
                <a:solidFill>
                  <a:schemeClr val="bg1"/>
                </a:solidFill>
              </a:rPr>
              <a:t>("</a:t>
            </a:r>
            <a:r>
              <a:rPr lang="en-US" altLang="zh-CN" sz="1400" dirty="0" err="1">
                <a:solidFill>
                  <a:schemeClr val="bg1"/>
                </a:solidFill>
              </a:rPr>
              <a:t>em</a:t>
            </a:r>
            <a:r>
              <a:rPr lang="en-US" altLang="zh-CN" sz="1400" dirty="0">
                <a:solidFill>
                  <a:schemeClr val="bg1"/>
                </a:solidFill>
              </a:rPr>
              <a:t>") else 0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# </a:t>
            </a:r>
            <a:r>
              <a:rPr lang="zh-CN" altLang="en-US" sz="1400" dirty="0">
                <a:solidFill>
                  <a:schemeClr val="bg1"/>
                </a:solidFill>
              </a:rPr>
              <a:t>提取标题</a:t>
            </a:r>
            <a:endParaRPr lang="zh-CN" altLang="en-US" sz="1400" dirty="0">
              <a:solidFill>
                <a:schemeClr val="bg1"/>
              </a:solidFill>
            </a:endParaRPr>
          </a:p>
          <a:p>
            <a:r>
              <a:rPr lang="zh-CN" altLang="en-US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>
                <a:solidFill>
                  <a:schemeClr val="bg1"/>
                </a:solidFill>
              </a:rPr>
              <a:t>movie["title"] = </a:t>
            </a:r>
            <a:r>
              <a:rPr lang="en-US" altLang="zh-CN" sz="1400" dirty="0" err="1">
                <a:solidFill>
                  <a:schemeClr val="bg1"/>
                </a:solidFill>
              </a:rPr>
              <a:t>item.find</a:t>
            </a:r>
            <a:r>
              <a:rPr lang="en-US" altLang="zh-CN" sz="1400" dirty="0">
                <a:solidFill>
                  <a:schemeClr val="bg1"/>
                </a:solidFill>
              </a:rPr>
              <a:t>("span", "title").</a:t>
            </a:r>
            <a:r>
              <a:rPr lang="en-US" altLang="zh-CN" sz="1400" dirty="0" err="1">
                <a:solidFill>
                  <a:schemeClr val="bg1"/>
                </a:solidFill>
              </a:rPr>
              <a:t>text.strip</a:t>
            </a:r>
            <a:r>
              <a:rPr lang="en-US" altLang="zh-CN" sz="1400" dirty="0">
                <a:solidFill>
                  <a:schemeClr val="bg1"/>
                </a:solidFill>
              </a:rPr>
              <a:t>()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# </a:t>
            </a:r>
            <a:r>
              <a:rPr lang="zh-CN" altLang="en-US" sz="1400" dirty="0">
                <a:solidFill>
                  <a:schemeClr val="bg1"/>
                </a:solidFill>
              </a:rPr>
              <a:t>提取评分</a:t>
            </a:r>
            <a:endParaRPr lang="zh-CN" altLang="en-US" sz="1400" dirty="0">
              <a:solidFill>
                <a:schemeClr val="bg1"/>
              </a:solidFill>
            </a:endParaRPr>
          </a:p>
          <a:p>
            <a:r>
              <a:rPr lang="zh-CN" altLang="en-US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>
                <a:solidFill>
                  <a:schemeClr val="bg1"/>
                </a:solidFill>
              </a:rPr>
              <a:t>movie["rating"] = float(</a:t>
            </a:r>
            <a:r>
              <a:rPr lang="en-US" altLang="zh-CN" sz="1400" dirty="0" err="1">
                <a:solidFill>
                  <a:schemeClr val="bg1"/>
                </a:solidFill>
              </a:rPr>
              <a:t>item.find</a:t>
            </a:r>
            <a:r>
              <a:rPr lang="en-US" altLang="zh-CN" sz="1400" dirty="0">
                <a:solidFill>
                  <a:schemeClr val="bg1"/>
                </a:solidFill>
              </a:rPr>
              <a:t>("span", "</a:t>
            </a:r>
            <a:r>
              <a:rPr lang="en-US" altLang="zh-CN" sz="1400" dirty="0" err="1">
                <a:solidFill>
                  <a:schemeClr val="bg1"/>
                </a:solidFill>
              </a:rPr>
              <a:t>rating_num</a:t>
            </a:r>
            <a:r>
              <a:rPr lang="en-US" altLang="zh-CN" sz="1400" dirty="0">
                <a:solidFill>
                  <a:schemeClr val="bg1"/>
                </a:solidFill>
              </a:rPr>
              <a:t>").text)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# </a:t>
            </a:r>
            <a:r>
              <a:rPr lang="zh-CN" altLang="en-US" sz="1400" dirty="0">
                <a:solidFill>
                  <a:schemeClr val="bg1"/>
                </a:solidFill>
              </a:rPr>
              <a:t>提取经典台词</a:t>
            </a:r>
            <a:endParaRPr lang="zh-CN" altLang="en-US" sz="1400" dirty="0">
              <a:solidFill>
                <a:schemeClr val="bg1"/>
              </a:solidFill>
            </a:endParaRPr>
          </a:p>
          <a:p>
            <a:r>
              <a:rPr lang="zh-CN" altLang="en-US" sz="1400" dirty="0">
                <a:solidFill>
                  <a:schemeClr val="bg1"/>
                </a:solidFill>
              </a:rPr>
              <a:t>    </a:t>
            </a:r>
            <a:r>
              <a:rPr lang="en-US" altLang="zh-CN" sz="1400" dirty="0">
                <a:solidFill>
                  <a:schemeClr val="bg1"/>
                </a:solidFill>
              </a:rPr>
              <a:t>quote = </a:t>
            </a:r>
            <a:r>
              <a:rPr lang="en-US" altLang="zh-CN" sz="1400" dirty="0" err="1">
                <a:solidFill>
                  <a:schemeClr val="bg1"/>
                </a:solidFill>
              </a:rPr>
              <a:t>item.find</a:t>
            </a:r>
            <a:r>
              <a:rPr lang="en-US" altLang="zh-CN" sz="1400" dirty="0">
                <a:solidFill>
                  <a:schemeClr val="bg1"/>
                </a:solidFill>
              </a:rPr>
              <a:t>("p", "quote")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movie["quote"] = </a:t>
            </a:r>
            <a:r>
              <a:rPr lang="en-US" altLang="zh-CN" sz="1400" dirty="0" err="1">
                <a:solidFill>
                  <a:schemeClr val="bg1"/>
                </a:solidFill>
              </a:rPr>
              <a:t>quote.span.text.strip</a:t>
            </a:r>
            <a:r>
              <a:rPr lang="en-US" altLang="zh-CN" sz="1400" dirty="0">
                <a:solidFill>
                  <a:schemeClr val="bg1"/>
                </a:solidFill>
              </a:rPr>
              <a:t>() if quote else "</a:t>
            </a:r>
            <a:r>
              <a:rPr lang="zh-CN" altLang="en-US" sz="1400" dirty="0">
                <a:solidFill>
                  <a:schemeClr val="bg1"/>
                </a:solidFill>
              </a:rPr>
              <a:t>无经典台词</a:t>
            </a:r>
            <a:r>
              <a:rPr lang="en-US" altLang="zh-CN" sz="1400" dirty="0">
                <a:solidFill>
                  <a:schemeClr val="bg1"/>
                </a:solidFill>
              </a:rPr>
              <a:t>"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en-US" altLang="zh-CN" sz="1400" dirty="0">
                <a:solidFill>
                  <a:schemeClr val="bg1"/>
                </a:solidFill>
              </a:rPr>
              <a:t>    return movie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9536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渲染层：</a:t>
            </a:r>
            <a:r>
              <a:rPr lang="en-US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Selenium </a:t>
            </a:r>
            <a:r>
              <a:rPr lang="zh-CN" altLang="en-US" sz="28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详情页爬虫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Text 11"/>
          <p:cNvSpPr/>
          <p:nvPr/>
        </p:nvSpPr>
        <p:spPr>
          <a:xfrm>
            <a:off x="639536" y="1479014"/>
            <a:ext cx="7112000" cy="450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核心代码 </a:t>
            </a:r>
            <a:r>
              <a:rPr lang="en-US" altLang="zh-CN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1</a:t>
            </a: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：</a:t>
            </a:r>
            <a:r>
              <a:rPr lang="en-US" sz="1600" b="1" dirty="0" err="1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反检测机制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5364" y="4152900"/>
            <a:ext cx="7112000" cy="431800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15" name="Shape 13"/>
          <p:cNvSpPr/>
          <p:nvPr/>
        </p:nvSpPr>
        <p:spPr>
          <a:xfrm>
            <a:off x="465364" y="4152900"/>
            <a:ext cx="50800" cy="4318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6" name="Text 14"/>
          <p:cNvSpPr/>
          <p:nvPr/>
        </p:nvSpPr>
        <p:spPr>
          <a:xfrm>
            <a:off x="719364" y="42418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反检测核心代码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9364" y="4584700"/>
            <a:ext cx="6604000" cy="374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init_driver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(self):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隐藏自动化特征</a:t>
            </a:r>
            <a:endParaRPr lang="zh-CN" alt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opts.add_argument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("--disable-blink-features=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AutomationControlled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")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opts.add_experimental_option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("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excludeSwitches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", ["enable-automation"])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CDP </a:t>
            </a: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隐藏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webdriver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self.driver.execute_cdp_cmd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("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Page.addScriptToEvaluateOnNewDocument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", {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"source": "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Object.defineProperty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(navigator, '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webdriver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', {get: () =&gt; undefined})"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})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963135" y="1339095"/>
            <a:ext cx="14732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核心代码</a:t>
            </a:r>
            <a:r>
              <a:rPr lang="en-US" altLang="zh-CN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2</a:t>
            </a: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：</a:t>
            </a:r>
            <a:r>
              <a:rPr lang="en-US" sz="1600" b="1" dirty="0" err="1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详情页数据提取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0" name="Text 18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08</a:t>
            </a:r>
            <a:endParaRPr lang="en-US" sz="1400" dirty="0"/>
          </a:p>
        </p:txBody>
      </p:sp>
      <p:sp>
        <p:nvSpPr>
          <p:cNvPr id="22" name="文本框 21"/>
          <p:cNvSpPr txBox="1"/>
          <p:nvPr/>
        </p:nvSpPr>
        <p:spPr>
          <a:xfrm>
            <a:off x="465364" y="2033584"/>
            <a:ext cx="7184572" cy="181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针对豆瓣对 </a:t>
            </a:r>
            <a:r>
              <a:rPr lang="en-US" altLang="zh-CN" dirty="0"/>
              <a:t>Selenium </a:t>
            </a:r>
            <a:r>
              <a:rPr lang="zh-CN" altLang="en-US" dirty="0"/>
              <a:t>的自动化检测，通过多层伪装彻底隐藏爬虫特征：关闭浏览器自动化标识、移除自动化开关、通过 </a:t>
            </a:r>
            <a:r>
              <a:rPr lang="en-US" altLang="zh-CN" dirty="0"/>
              <a:t>CDP </a:t>
            </a:r>
            <a:r>
              <a:rPr lang="zh-CN" altLang="en-US" dirty="0"/>
              <a:t>指令隐藏</a:t>
            </a:r>
            <a:r>
              <a:rPr lang="en-US" altLang="zh-CN" dirty="0" err="1"/>
              <a:t>webdriver</a:t>
            </a:r>
            <a:r>
              <a:rPr lang="zh-CN" altLang="en-US" dirty="0"/>
              <a:t>属性，使浏览器完全模拟真实用户环境，避免被页面识别为爬虫而拦截。</a:t>
            </a:r>
            <a:endParaRPr lang="en-US" altLang="zh-CN" sz="2000" dirty="0"/>
          </a:p>
        </p:txBody>
      </p:sp>
      <p:sp>
        <p:nvSpPr>
          <p:cNvPr id="23" name="Shape 12"/>
          <p:cNvSpPr/>
          <p:nvPr/>
        </p:nvSpPr>
        <p:spPr>
          <a:xfrm>
            <a:off x="8831035" y="4140200"/>
            <a:ext cx="7112000" cy="431800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4" name="Shape 13"/>
          <p:cNvSpPr/>
          <p:nvPr/>
        </p:nvSpPr>
        <p:spPr>
          <a:xfrm>
            <a:off x="8831035" y="4140200"/>
            <a:ext cx="50800" cy="4318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5" name="Text 14"/>
          <p:cNvSpPr/>
          <p:nvPr/>
        </p:nvSpPr>
        <p:spPr>
          <a:xfrm>
            <a:off x="9085035" y="42291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详情页数据提取</a:t>
            </a:r>
            <a:endParaRPr lang="en-US" sz="1400" dirty="0"/>
          </a:p>
        </p:txBody>
      </p:sp>
      <p:sp>
        <p:nvSpPr>
          <p:cNvPr id="26" name="Text 15"/>
          <p:cNvSpPr/>
          <p:nvPr/>
        </p:nvSpPr>
        <p:spPr>
          <a:xfrm>
            <a:off x="9085035" y="4572000"/>
            <a:ext cx="6604000" cy="374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crawl_detail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(self,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url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info_text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self.driver.find_element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(By.ID, "info").text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正则提取结构化数据</a:t>
            </a:r>
            <a:endParaRPr lang="zh-CN" alt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year =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re.search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(r'(\d{4})',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info_text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).group(1)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runtime =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re.search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(r'(\d+)\s*</a:t>
            </a: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分钟</a:t>
            </a: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info_text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).group(1)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imdb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re.search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r"IMDb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:\s*(\S+)",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info_text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re.I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).group(1)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return {"year": year, "runtime": runtime, "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imdb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":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imdb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}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695400" y="1961666"/>
            <a:ext cx="7184572" cy="1372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先定位页面信息区域，再通过正则表达式精准提取年份、片长、</a:t>
            </a:r>
            <a:r>
              <a:rPr lang="en-US" altLang="zh-CN" dirty="0"/>
              <a:t>IMDb </a:t>
            </a:r>
            <a:r>
              <a:rPr lang="zh-CN" altLang="en-US" dirty="0"/>
              <a:t>编号等结构化数据，解决 </a:t>
            </a:r>
            <a:r>
              <a:rPr lang="en-US" altLang="zh-CN" dirty="0"/>
              <a:t>JS </a:t>
            </a:r>
            <a:r>
              <a:rPr lang="zh-CN" altLang="en-US" dirty="0"/>
              <a:t>动态渲染页面无法用 </a:t>
            </a:r>
            <a:r>
              <a:rPr lang="en-US" altLang="zh-CN" dirty="0"/>
              <a:t>Requests </a:t>
            </a:r>
            <a:r>
              <a:rPr lang="zh-CN" altLang="en-US" dirty="0"/>
              <a:t>直接获取的问题，为电影数据补充完整的详情信息。</a:t>
            </a:r>
            <a:endParaRPr lang="en-US" altLang="zh-CN" sz="20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资源层：</a:t>
            </a:r>
            <a:r>
              <a:rPr lang="en-US" sz="2800" dirty="0" err="1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ImageDownloader</a:t>
            </a:r>
            <a:r>
              <a:rPr lang="en-US" sz="2800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 </a:t>
            </a:r>
            <a:r>
              <a:rPr lang="zh-CN" altLang="en-US" sz="2800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海报下载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Text 11"/>
          <p:cNvSpPr/>
          <p:nvPr/>
        </p:nvSpPr>
        <p:spPr>
          <a:xfrm>
            <a:off x="762000" y="1498600"/>
            <a:ext cx="7112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 err="1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ImageDownloader</a:t>
            </a:r>
            <a:r>
              <a:rPr 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 </a:t>
            </a:r>
            <a:r>
              <a:rPr lang="zh-CN" altLang="en-US" sz="1600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海报下载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82000" y="1498600"/>
            <a:ext cx="7112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6750" y="3390901"/>
            <a:ext cx="14732000" cy="367030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16" name="Shape 14"/>
          <p:cNvSpPr/>
          <p:nvPr/>
        </p:nvSpPr>
        <p:spPr>
          <a:xfrm>
            <a:off x="666750" y="3378201"/>
            <a:ext cx="50800" cy="3429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7" name="Text 15"/>
          <p:cNvSpPr/>
          <p:nvPr/>
        </p:nvSpPr>
        <p:spPr>
          <a:xfrm>
            <a:off x="920750" y="3467101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0750" y="3822701"/>
            <a:ext cx="14224000" cy="3314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download(self,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url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filename):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文件已存在且有效则跳过</a:t>
            </a:r>
            <a:endParaRPr lang="zh-CN" alt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if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os.path.exists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(path) and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os.path.getsize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(path) &gt; 1024: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return True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流式下载，避免内存溢出</a:t>
            </a:r>
            <a:endParaRPr lang="zh-CN" alt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resp =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requests.get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url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stream=True, headers=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self.headers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with open(path, "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wb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") as f: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for chunk in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resp.iter_content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(8192):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f.write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(chunk)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return True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2000" y="7810500"/>
            <a:ext cx="14732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工具类支持</a:t>
            </a: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：utils/user_agents.py 维护100+条真实浏览器UA，utils/proxy_pool.py 管理免费代理IP池（支持HTTP/HTTPS/SOCKS），utils/logger.py 配置统一日志输出（控制台+文件，支持INFO/WARNING/ERROR分级）。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1" name="Text 19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09</a:t>
            </a:r>
            <a:endParaRPr lang="en-US" sz="1400" dirty="0"/>
          </a:p>
        </p:txBody>
      </p:sp>
      <p:sp>
        <p:nvSpPr>
          <p:cNvPr id="22" name="文本框 21"/>
          <p:cNvSpPr txBox="1"/>
          <p:nvPr/>
        </p:nvSpPr>
        <p:spPr>
          <a:xfrm>
            <a:off x="666750" y="1915171"/>
            <a:ext cx="13597164" cy="929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实现海报智能去重、文件有效性校验、流式分块下载。先判断文件是否已存在且大小合法，避免重复下载；再以 </a:t>
            </a:r>
            <a:r>
              <a:rPr lang="en-US" altLang="zh-CN" dirty="0"/>
              <a:t>stream </a:t>
            </a:r>
            <a:r>
              <a:rPr lang="zh-CN" altLang="en-US" dirty="0"/>
              <a:t>模式分块写入文件，防止大图片占满内存，保证 </a:t>
            </a:r>
            <a:r>
              <a:rPr lang="en-US" altLang="zh-CN" dirty="0"/>
              <a:t>250 </a:t>
            </a:r>
            <a:r>
              <a:rPr lang="zh-CN" altLang="en-US" dirty="0"/>
              <a:t>张海报高效、稳定、完整保存。</a:t>
            </a:r>
            <a:endParaRPr lang="en-US" altLang="zh-CN" sz="20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爬虫性能对比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61999" y="1498601"/>
          <a:ext cx="13899398" cy="3200183"/>
        </p:xfrm>
        <a:graphic>
          <a:graphicData uri="http://schemas.openxmlformats.org/drawingml/2006/table">
            <a:tbl>
              <a:tblPr/>
              <a:tblGrid>
                <a:gridCol w="3057868"/>
                <a:gridCol w="5420765"/>
                <a:gridCol w="5420765"/>
              </a:tblGrid>
              <a:tr h="50777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对比维度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Requests + Selenium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Scrapy 框架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</a:tr>
              <a:tr h="6731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架构模式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手动编写，流程自行控制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Engine-Spider-Pipeline 标准架构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731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并发能力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单线程顺序执行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支持异步并发（CONCURRENT_REQUESTS）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31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开发效率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代码简洁，快速原型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配置驱动，扩展性强（Middleware/Pipeline）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731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适用场景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小规模、动态页面、快速验证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大规模、生产环境、定时任务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5143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性能对比数据</a:t>
            </a:r>
            <a:endParaRPr lang="en-US" sz="2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762000" y="5651500"/>
          <a:ext cx="7112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Text 12"/>
          <p:cNvSpPr/>
          <p:nvPr/>
        </p:nvSpPr>
        <p:spPr>
          <a:xfrm>
            <a:off x="8382000" y="5651500"/>
            <a:ext cx="7112000" cy="298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对比结论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Requests版本</a:t>
            </a: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：代码量少、逻辑直观、适合快速开发和调试。Selenium可处理JavaScript动态渲染，但单线程执行效率较低，内存占用随浏览器实例增加。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Scrapy版本</a:t>
            </a: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：框架成熟、并发能力强、Middleware/Pipeline扩展机制完善。适合大规模定时爬取，但学习曲线较陡，配置复杂度较高。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本项目中两者互补：Requests负责列表页，Selenium处理动态详情页，Scrapy作为高性能备选方案。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8" name="Text 14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524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D4943A">
                    <a:alpha val="18824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127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492500"/>
            <a:ext cx="1016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5" name="Text 3"/>
          <p:cNvSpPr/>
          <p:nvPr/>
        </p:nvSpPr>
        <p:spPr>
          <a:xfrm>
            <a:off x="762000" y="37465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46355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数据清洗、统计分析、情感分析、7类专业可视化图表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数据清洗与结构化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Shape 11"/>
          <p:cNvSpPr/>
          <p:nvPr/>
        </p:nvSpPr>
        <p:spPr>
          <a:xfrm>
            <a:off x="762000" y="1498600"/>
            <a:ext cx="2794000" cy="6985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14" name="Text 12"/>
          <p:cNvSpPr/>
          <p:nvPr/>
        </p:nvSpPr>
        <p:spPr>
          <a:xfrm>
            <a:off x="762000" y="1498600"/>
            <a:ext cx="2794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① 核心字段去重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rank_num/title/rating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32200" y="1676400"/>
            <a:ext cx="3810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16" name="Shape 14"/>
          <p:cNvSpPr/>
          <p:nvPr/>
        </p:nvSpPr>
        <p:spPr>
          <a:xfrm>
            <a:off x="4089400" y="1498600"/>
            <a:ext cx="2794000" cy="6985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17" name="Text 15"/>
          <p:cNvSpPr/>
          <p:nvPr/>
        </p:nvSpPr>
        <p:spPr>
          <a:xfrm>
            <a:off x="4089400" y="1498600"/>
            <a:ext cx="2794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② 缺失值填充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quote/info/year等字段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59600" y="1676400"/>
            <a:ext cx="3810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19" name="Shape 17"/>
          <p:cNvSpPr/>
          <p:nvPr/>
        </p:nvSpPr>
        <p:spPr>
          <a:xfrm>
            <a:off x="7416800" y="1498600"/>
            <a:ext cx="2794000" cy="6985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0" name="Text 18"/>
          <p:cNvSpPr/>
          <p:nvPr/>
        </p:nvSpPr>
        <p:spPr>
          <a:xfrm>
            <a:off x="7416800" y="1498600"/>
            <a:ext cx="2794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③ 类型转换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rank→int, rating→float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287000" y="1676400"/>
            <a:ext cx="3810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22" name="Shape 20"/>
          <p:cNvSpPr/>
          <p:nvPr/>
        </p:nvSpPr>
        <p:spPr>
          <a:xfrm>
            <a:off x="10744200" y="1498600"/>
            <a:ext cx="2794000" cy="6985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3" name="Text 21"/>
          <p:cNvSpPr/>
          <p:nvPr/>
        </p:nvSpPr>
        <p:spPr>
          <a:xfrm>
            <a:off x="10744200" y="1498600"/>
            <a:ext cx="27940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④ 信息提取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导演/类型/主演/年份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614400" y="1676400"/>
            <a:ext cx="3810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25" name="Shape 23"/>
          <p:cNvSpPr/>
          <p:nvPr/>
        </p:nvSpPr>
        <p:spPr>
          <a:xfrm>
            <a:off x="14071600" y="1498600"/>
            <a:ext cx="1422400" cy="6985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6" name="Text 24"/>
          <p:cNvSpPr/>
          <p:nvPr/>
        </p:nvSpPr>
        <p:spPr>
          <a:xfrm>
            <a:off x="14071600" y="1498600"/>
            <a:ext cx="1422400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⑤ 异常过滤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清洗完成输出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2628900"/>
            <a:ext cx="6533827" cy="4005666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9" name="Shape 27"/>
          <p:cNvSpPr/>
          <p:nvPr/>
        </p:nvSpPr>
        <p:spPr>
          <a:xfrm>
            <a:off x="533400" y="2628900"/>
            <a:ext cx="50800" cy="3926883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0" name="Text 28"/>
          <p:cNvSpPr/>
          <p:nvPr/>
        </p:nvSpPr>
        <p:spPr>
          <a:xfrm>
            <a:off x="787400" y="2717800"/>
            <a:ext cx="2540000" cy="4653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7400" y="3073399"/>
            <a:ext cx="6604000" cy="4547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clean_data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(self):</a:t>
            </a:r>
            <a:endParaRPr 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去重与无效数据过滤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self.df.drop_duplicates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(subset=['title'])</a:t>
            </a:r>
            <a:endParaRPr 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self.df.dropna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(subset=['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rank_num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', 'title', 'rating'])</a:t>
            </a:r>
            <a:endParaRPr 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endParaRPr 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缺失值统一填充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['quote']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['quote'].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fillna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无经典台词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['year']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['year'].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fillna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未知年份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['director']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['director'].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fillna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未知导演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" name="Text 32"/>
          <p:cNvSpPr/>
          <p:nvPr/>
        </p:nvSpPr>
        <p:spPr>
          <a:xfrm>
            <a:off x="143764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12</a:t>
            </a:r>
            <a:endParaRPr lang="en-US" sz="1400" dirty="0"/>
          </a:p>
        </p:txBody>
      </p:sp>
      <p:sp>
        <p:nvSpPr>
          <p:cNvPr id="37" name="Shape 26"/>
          <p:cNvSpPr/>
          <p:nvPr/>
        </p:nvSpPr>
        <p:spPr>
          <a:xfrm>
            <a:off x="7874000" y="2628900"/>
            <a:ext cx="7112000" cy="4005666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8" name="Shape 27"/>
          <p:cNvSpPr/>
          <p:nvPr/>
        </p:nvSpPr>
        <p:spPr>
          <a:xfrm>
            <a:off x="7874000" y="2628900"/>
            <a:ext cx="50800" cy="3992966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9" name="Text 28"/>
          <p:cNvSpPr/>
          <p:nvPr/>
        </p:nvSpPr>
        <p:spPr>
          <a:xfrm>
            <a:off x="8128000" y="2717800"/>
            <a:ext cx="2540000" cy="4653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40" name="Text 29"/>
          <p:cNvSpPr/>
          <p:nvPr/>
        </p:nvSpPr>
        <p:spPr>
          <a:xfrm>
            <a:off x="8220989" y="3164595"/>
            <a:ext cx="6604000" cy="4547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数据类型标准化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['rating']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['rating'].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astype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(float)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comment_num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']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comment_num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'].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astype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(int)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正则提取结构化信息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['director']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['info'].apply(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self.extract_director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['genre']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['info'].apply(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self.extract_genre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['year']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['info'].apply(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self.extract_year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return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07756" y="6836796"/>
            <a:ext cx="13597164" cy="1814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b="1" dirty="0">
                <a:solidFill>
                  <a:srgbClr val="0F4C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设计思路</a:t>
            </a:r>
            <a:endParaRPr lang="en-US" altLang="zh-CN" b="1" dirty="0">
              <a:solidFill>
                <a:srgbClr val="0F4C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Print" panose="02000600000000000000" charset="0"/>
            </a:endParaRPr>
          </a:p>
          <a:p>
            <a:pPr>
              <a:lnSpc>
                <a:spcPct val="160000"/>
              </a:lnSpc>
            </a:pPr>
            <a:r>
              <a:rPr lang="zh-CN" altLang="en-US" dirty="0"/>
              <a:t>本模块基于真实采集的原始数据，完成去重、缺失值填充、数据类型标准化、结构化信息提取四大核心任务。通过正则表达式从半结构化的网页文本中精准解析导演、类型、年份等信息，将杂乱数据转为规范、可用、可分析的标准数据集，为后续统计与可视化奠定基础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28"/>
          <p:cNvSpPr/>
          <p:nvPr/>
        </p:nvSpPr>
        <p:spPr>
          <a:xfrm>
            <a:off x="8316025" y="2705387"/>
            <a:ext cx="2540000" cy="4653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数据清洗与结构化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7" name="Text 25"/>
          <p:cNvSpPr/>
          <p:nvPr/>
        </p:nvSpPr>
        <p:spPr>
          <a:xfrm>
            <a:off x="762000" y="1655090"/>
            <a:ext cx="7112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 err="1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输出格式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清洗后同时导出CSV、JSON、Excel三种格式，便于后续分析和查看。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2000" y="2588580"/>
            <a:ext cx="14732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数据质量统计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原始数据250条 → 清洗后有效数据250条（去重0条，异常过滤0条）。所有电影均成功提取导演、类型、年份字段。评价人数字段统一转换为整数型，评分保留1位小数。缺失的quote字段以"无经典台词"填充，确保下游分析无空值。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2000" y="794159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" name="Text 32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12</a:t>
            </a:r>
            <a:endParaRPr lang="en-US" sz="1400" dirty="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07" y="3975315"/>
            <a:ext cx="6785675" cy="459804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7417" y="3975315"/>
            <a:ext cx="7005233" cy="45599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统计分析维度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1464535" y="1356388"/>
          <a:ext cx="12412529" cy="2598332"/>
        </p:xfrm>
        <a:graphic>
          <a:graphicData uri="http://schemas.openxmlformats.org/drawingml/2006/table">
            <a:tbl>
              <a:tblPr/>
              <a:tblGrid>
                <a:gridCol w="2234255"/>
                <a:gridCol w="5213262"/>
                <a:gridCol w="4965012"/>
              </a:tblGrid>
              <a:tr h="36320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分析维度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分析方法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核心发现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</a:tr>
              <a:tr h="4470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高分电影Top10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按rating降序取前10，关联comment_num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《肖申克的救赎》9.7分居首，前10均≥9.3分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470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导演分布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director字段value_counts，取Top15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宫崎骏、克里斯托弗·诺兰作品最多（各6-7部）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类型分布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genre字段空格拆分后统计频率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剧情片占比最高（约35%），其次是爱情、喜剧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470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评分-评论相关性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rating与comment_num的Pearson相关系数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相关系数约0.42，中等正相关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年份趋势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按十年分组统计电影数量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1990s-2000s电影占比最高（经典影片集中）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22" name="Shape 26"/>
          <p:cNvSpPr/>
          <p:nvPr/>
        </p:nvSpPr>
        <p:spPr>
          <a:xfrm>
            <a:off x="812800" y="4224791"/>
            <a:ext cx="6159715" cy="4462009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3" name="Shape 27"/>
          <p:cNvSpPr/>
          <p:nvPr/>
        </p:nvSpPr>
        <p:spPr>
          <a:xfrm>
            <a:off x="812800" y="4224791"/>
            <a:ext cx="50800" cy="3926883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4" name="Text 28"/>
          <p:cNvSpPr/>
          <p:nvPr/>
        </p:nvSpPr>
        <p:spPr>
          <a:xfrm>
            <a:off x="1066800" y="4313691"/>
            <a:ext cx="2540000" cy="4653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25" name="Text 29"/>
          <p:cNvSpPr/>
          <p:nvPr/>
        </p:nvSpPr>
        <p:spPr>
          <a:xfrm>
            <a:off x="1066800" y="4669290"/>
            <a:ext cx="6604000" cy="4547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# 1.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高分电影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Top10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（按评分降序筛选前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10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，展示关键信息）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get_top10_movies(self):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return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self.df.nlargest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(10, 'rating')[['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rank_num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', 'title', 'rating', '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comment_num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']]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导演分布统计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director_counts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['director'].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value_counts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().head(15)</a:t>
            </a:r>
            <a:endParaRPr 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类型分布统计（多标签拆分）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genre_series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['genre'].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str.split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().explode()</a:t>
            </a:r>
            <a:endParaRPr 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genre_counts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genre_series.value_counts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().head(10)</a:t>
            </a:r>
            <a:endParaRPr 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评分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-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评论相关性计算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corr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['rating'].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corr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comment_num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'], method='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pearson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年份趋势分组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['decade'] = (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['year'].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astype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(int) // 10) * 10</a:t>
            </a:r>
            <a:endParaRPr 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decade_counts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['decade'].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value_counts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().</a:t>
            </a:r>
            <a:r>
              <a:rPr lang="en-US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sort_index</a:t>
            </a:r>
            <a:r>
              <a:rPr 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7562743" y="4224791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评分分布概览</a:t>
            </a:r>
            <a:endParaRPr lang="en-US" sz="2200" dirty="0"/>
          </a:p>
        </p:txBody>
      </p:sp>
      <p:graphicFrame>
        <p:nvGraphicFramePr>
          <p:cNvPr id="43" name="Chart 0"/>
          <p:cNvGraphicFramePr/>
          <p:nvPr/>
        </p:nvGraphicFramePr>
        <p:xfrm>
          <a:off x="7562743" y="4732791"/>
          <a:ext cx="6858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4" name="Text 12"/>
          <p:cNvSpPr/>
          <p:nvPr/>
        </p:nvSpPr>
        <p:spPr>
          <a:xfrm>
            <a:off x="7458733" y="6925539"/>
            <a:ext cx="8594067" cy="21577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核心发现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</a:t>
            </a:r>
            <a:r>
              <a:rPr lang="en-US" sz="15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评分集中度高</a:t>
            </a: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：250部电影评分集中在9.2-9.5区间（160部，占64%），体现Top250的严格筛选标准。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</a:t>
            </a:r>
            <a:r>
              <a:rPr lang="en-US" sz="15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导演集中效应</a:t>
            </a: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：宫崎骏、诺兰等导演多部作品上榜，说明个人风格对电影质量的显著影响。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</a:t>
            </a:r>
            <a:r>
              <a:rPr lang="en-US" sz="15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剧情片主导</a:t>
            </a: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：剧情类型覆盖超过1/3，是高分电影最核心的类型标签。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</a:t>
            </a:r>
            <a:r>
              <a:rPr lang="en-US" sz="15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口碑与热度正相关</a:t>
            </a:r>
            <a:r>
              <a:rPr lang="en-US" sz="15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：评分与评价人数呈中等正相关（r=0.42），优质电影自然吸引更多关注。</a:t>
            </a:r>
            <a:endParaRPr lang="en-US" sz="1800" dirty="0"/>
          </a:p>
        </p:txBody>
      </p:sp>
      <p:sp>
        <p:nvSpPr>
          <p:cNvPr id="45" name="Shape 13"/>
          <p:cNvSpPr/>
          <p:nvPr/>
        </p:nvSpPr>
        <p:spPr>
          <a:xfrm>
            <a:off x="7511943" y="7717291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6" name="Text 14"/>
          <p:cNvSpPr/>
          <p:nvPr/>
        </p:nvSpPr>
        <p:spPr>
          <a:xfrm>
            <a:off x="21608943" y="7742691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短评情感分析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472329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Text 11"/>
          <p:cNvSpPr/>
          <p:nvPr/>
        </p:nvSpPr>
        <p:spPr>
          <a:xfrm>
            <a:off x="815706" y="1551973"/>
            <a:ext cx="5290088" cy="323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分析流程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使用SnowNLP进行情感打分（0-1区间）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阈值分类：&gt;0.7为正面，&lt;0.3为负面，其余中性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jieba精确模式分词 + 自定义停用词过滤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Counter统计词频，提取Top20关键词</a:t>
            </a:r>
            <a:endParaRPr lang="en-US" sz="1800" dirty="0"/>
          </a:p>
        </p:txBody>
      </p:sp>
      <p:sp>
        <p:nvSpPr>
          <p:cNvPr id="20" name="Shape 26"/>
          <p:cNvSpPr/>
          <p:nvPr/>
        </p:nvSpPr>
        <p:spPr>
          <a:xfrm>
            <a:off x="812800" y="3545935"/>
            <a:ext cx="5649993" cy="5005819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1" name="Shape 27"/>
          <p:cNvSpPr/>
          <p:nvPr/>
        </p:nvSpPr>
        <p:spPr>
          <a:xfrm>
            <a:off x="812800" y="3545935"/>
            <a:ext cx="50800" cy="3926883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2" name="Text 28"/>
          <p:cNvSpPr/>
          <p:nvPr/>
        </p:nvSpPr>
        <p:spPr>
          <a:xfrm>
            <a:off x="1066800" y="3634835"/>
            <a:ext cx="2540000" cy="4653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23" name="Text 29"/>
          <p:cNvSpPr/>
          <p:nvPr/>
        </p:nvSpPr>
        <p:spPr>
          <a:xfrm>
            <a:off x="1003408" y="4004422"/>
            <a:ext cx="6604000" cy="4547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# 1.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情感分析核心函数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analyze_sentiment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(self, text):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文本清洗：去除特殊字符，保留中文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clean_text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re.sub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(r'[^\u4e00-\u9fa5\s]', '', text).strip()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if not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clean_text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return "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中性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", 0.5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SnowNLP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情感打分（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0~1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区间）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score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SnowNLP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clean_text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).sentiments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阈值分类：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&gt;0.7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为正面，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&lt;0.3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为负面，其余中性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if score &gt; 0.7: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return "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正面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", score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elif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score &lt; 0.3: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return "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负面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", score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else: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return "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中性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", score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7874000" y="1551973"/>
            <a:ext cx="7112000" cy="323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 err="1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技术细节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加载自定义电影词典提升分词准确性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批量分析优化性能（单条→批量）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文本清洗：去除特殊字符和多余空格</a:t>
            </a:r>
            <a:endParaRPr lang="en-US" sz="1800" dirty="0"/>
          </a:p>
        </p:txBody>
      </p:sp>
      <p:sp>
        <p:nvSpPr>
          <p:cNvPr id="25" name="Shape 26"/>
          <p:cNvSpPr/>
          <p:nvPr/>
        </p:nvSpPr>
        <p:spPr>
          <a:xfrm>
            <a:off x="7871847" y="3545934"/>
            <a:ext cx="6827864" cy="5005819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6" name="Shape 27"/>
          <p:cNvSpPr/>
          <p:nvPr/>
        </p:nvSpPr>
        <p:spPr>
          <a:xfrm>
            <a:off x="7871847" y="3545934"/>
            <a:ext cx="50800" cy="3926883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7" name="Text 28"/>
          <p:cNvSpPr/>
          <p:nvPr/>
        </p:nvSpPr>
        <p:spPr>
          <a:xfrm>
            <a:off x="8125847" y="3634834"/>
            <a:ext cx="2540000" cy="4653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28" name="Text 29"/>
          <p:cNvSpPr/>
          <p:nvPr/>
        </p:nvSpPr>
        <p:spPr>
          <a:xfrm>
            <a:off x="8062454" y="3710603"/>
            <a:ext cx="6703064" cy="48411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# 2.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关键词提取函数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extract_keywords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(self, texts):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words = []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for text in texts: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clean_text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re.sub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(r'[^\u4e00-\u9fa5\s]', '', text).strip()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if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clean_text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    #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jieba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分词 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+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自定义停用词过滤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words.extend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([w for w in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jieba.lcut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clean_text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 if w not in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self.stop_words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and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len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(w) &gt; 1])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统计词频，取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Top20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关键词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return Counter(words).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most_common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(20)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短评情感分析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graphicFrame>
        <p:nvGraphicFramePr>
          <p:cNvPr id="14" name="Chart 0"/>
          <p:cNvGraphicFramePr/>
          <p:nvPr/>
        </p:nvGraphicFramePr>
        <p:xfrm>
          <a:off x="8382000" y="1498600"/>
          <a:ext cx="7112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762000" y="2557436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高频关键词 Top 10</a:t>
            </a:r>
            <a:endParaRPr lang="en-US" sz="220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762000" y="3001936"/>
          <a:ext cx="7620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8890000" y="5334000"/>
            <a:ext cx="6604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分析结论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</a:t>
            </a:r>
            <a:r>
              <a:rPr lang="en-US" sz="14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正面情感占绝对主导</a:t>
            </a: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：70%的短评表达正面情感，符合Top250高分电影的定位。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</a:t>
            </a:r>
            <a:r>
              <a:rPr lang="en-US" sz="14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"经典"是最热词</a:t>
            </a: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：出现285次，说明上榜电影在用户心中具有超越时间的价值。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</a:t>
            </a:r>
            <a:r>
              <a:rPr lang="en-US" sz="14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情感关键词集中</a:t>
            </a: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："好看""感动""喜欢"占据高频前列，用户表达直接且情感强烈。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</a:t>
            </a:r>
            <a:r>
              <a:rPr lang="en-US" sz="14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负面评论稀少</a:t>
            </a: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：仅10%负面，且多集中在"太长""看不懂"等主观感受。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情感分析结果有效验证了豆瓣Top250榜单的权威性和用户认可度。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9" name="Text 15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7类专业可视化图表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1" name="Shape 26"/>
          <p:cNvSpPr/>
          <p:nvPr/>
        </p:nvSpPr>
        <p:spPr>
          <a:xfrm>
            <a:off x="762000" y="2374146"/>
            <a:ext cx="5910020" cy="4813988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2" name="Shape 27"/>
          <p:cNvSpPr/>
          <p:nvPr/>
        </p:nvSpPr>
        <p:spPr>
          <a:xfrm>
            <a:off x="762000" y="2374146"/>
            <a:ext cx="53138" cy="4813988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3" name="Text 28"/>
          <p:cNvSpPr/>
          <p:nvPr/>
        </p:nvSpPr>
        <p:spPr>
          <a:xfrm>
            <a:off x="1015999" y="2463045"/>
            <a:ext cx="2656897" cy="6672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15999" y="2953826"/>
            <a:ext cx="6604000" cy="64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# 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评分分布直方图</a:t>
            </a:r>
            <a:endParaRPr lang="zh-CN" altLang="en-US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plot_rating_dist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plt.figure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figsize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=(10, 6))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sns.histplot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['rating'], bins=20,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kde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=True, color='#2E8B57')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plt.axvline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['rating'].mean(), color='red',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linestyle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='--', label=f'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平均分：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{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["rating"].mean():.1f}')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plt.title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豆瓣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Top250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电影评分分布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plt.xlabel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评分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plt.ylabel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电影数量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plt.legend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plt.savefig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('rating_dist.png', dpi=300,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bbox_inches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='tight')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wc.to_file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('comment_wordcloud.png')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91047" y="2318826"/>
            <a:ext cx="8477906" cy="1814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本函数设计目标是直观呈现数据集整体评分的集中趋势与分布特征。通过直方图展示各分数段电影数量，叠加核密度曲线反映整体分布形态；加入平均分虚线作为关键参考指标，强化数据解读效率。函数统一配置画布比例、配色与标签体系，确保图表专业美观；最终以 </a:t>
            </a:r>
            <a:r>
              <a:rPr lang="en-US" altLang="zh-CN" dirty="0"/>
              <a:t>300DPI </a:t>
            </a:r>
            <a:r>
              <a:rPr lang="zh-CN" altLang="en-US" dirty="0"/>
              <a:t>高清无白边输出，满足汇报展示标准。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865" y="4572000"/>
            <a:ext cx="7822269" cy="3865990"/>
          </a:xfrm>
          <a:prstGeom prst="rect">
            <a:avLst/>
          </a:prstGeom>
        </p:spPr>
      </p:pic>
      <p:sp>
        <p:nvSpPr>
          <p:cNvPr id="46" name="Text 11"/>
          <p:cNvSpPr/>
          <p:nvPr/>
        </p:nvSpPr>
        <p:spPr>
          <a:xfrm>
            <a:off x="-725837" y="1637546"/>
            <a:ext cx="469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① 评分分布直方图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7类专业可视化图表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1" name="Shape 26"/>
          <p:cNvSpPr/>
          <p:nvPr/>
        </p:nvSpPr>
        <p:spPr>
          <a:xfrm>
            <a:off x="762000" y="2374146"/>
            <a:ext cx="5910020" cy="427102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2" name="Shape 27"/>
          <p:cNvSpPr/>
          <p:nvPr/>
        </p:nvSpPr>
        <p:spPr>
          <a:xfrm>
            <a:off x="762000" y="2374146"/>
            <a:ext cx="53138" cy="427102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3" name="Text 28"/>
          <p:cNvSpPr/>
          <p:nvPr/>
        </p:nvSpPr>
        <p:spPr>
          <a:xfrm>
            <a:off x="1015999" y="2463045"/>
            <a:ext cx="2656897" cy="6672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15999" y="2953826"/>
            <a:ext cx="4748737" cy="39282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plot_rating_comment_scatter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plt.figure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figsize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=(10, 6))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sns.scatterplot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(x='rating', y='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comment_num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', data=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color='#2E8B57')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plt.title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评分与评论数量相关性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plt.xlabel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评分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plt.ylabel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评论数量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plt.savefig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('rating_comment_scatter.png', dpi=300,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bbox_inches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='tight')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91047" y="2318826"/>
            <a:ext cx="8477906" cy="1814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本函数设计用于挖掘高分电影的年代分布规律。通过将年份按 “十年” 分组聚合，降低数据粒度，使趋势更易解读；采用柱状图呈现不同年代上榜电影数量，突出经典影片集中区间。函数内置数据预处理逻辑，实现 “输入清洗数据→直接出图” 的一体化设计，提升分析流程连贯性。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-830833" y="1665206"/>
            <a:ext cx="469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② 年份趋势图</a:t>
            </a:r>
            <a:endParaRPr lang="en-US" sz="14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0966" y="4419022"/>
            <a:ext cx="7189784" cy="36686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7类专业可视化图表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1" name="Shape 26"/>
          <p:cNvSpPr/>
          <p:nvPr/>
        </p:nvSpPr>
        <p:spPr>
          <a:xfrm>
            <a:off x="762000" y="2374146"/>
            <a:ext cx="5910020" cy="4813988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2" name="Shape 27"/>
          <p:cNvSpPr/>
          <p:nvPr/>
        </p:nvSpPr>
        <p:spPr>
          <a:xfrm>
            <a:off x="762000" y="2374146"/>
            <a:ext cx="53138" cy="4813988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3" name="Text 28"/>
          <p:cNvSpPr/>
          <p:nvPr/>
        </p:nvSpPr>
        <p:spPr>
          <a:xfrm>
            <a:off x="1015999" y="2463045"/>
            <a:ext cx="2656897" cy="6672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15999" y="2953826"/>
            <a:ext cx="6604000" cy="64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plot_rating_comment_scatter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plt.figure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figsize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=(10, 6))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sns.scatterplot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(x='rating', y='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comment_num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', data=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color='#2E8B57')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plt.title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评分与评论数量相关性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plt.xlabel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评分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plt.ylabel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评论数量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plt.savefig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('rating_comment_scatter.png', dpi=300,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bbox_inches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='tight')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91047" y="2318826"/>
            <a:ext cx="8477906" cy="1814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/>
              <a:t>本函数设计目标是可视化评分与热度的内在关联。以散点图形式呈现双变量关系，直观反映口碑与热度的相关性特征。函数保持统一画布尺寸与配色风格，确保整套图表视觉一致性；通过清晰标签与标题，快速传递 “高分电影通常伴随更高关注度” 的分析结论。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3"/>
          <p:cNvSpPr/>
          <p:nvPr/>
        </p:nvSpPr>
        <p:spPr>
          <a:xfrm>
            <a:off x="-677085" y="1644273"/>
            <a:ext cx="469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③ 评分-评论散点图</a:t>
            </a:r>
            <a:endParaRPr lang="en-US" sz="14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555" y="4352552"/>
            <a:ext cx="7613963" cy="374346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7类专业可视化图表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1" name="Shape 26"/>
          <p:cNvSpPr/>
          <p:nvPr/>
        </p:nvSpPr>
        <p:spPr>
          <a:xfrm>
            <a:off x="762000" y="2374146"/>
            <a:ext cx="5910020" cy="4813988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2" name="Shape 27"/>
          <p:cNvSpPr/>
          <p:nvPr/>
        </p:nvSpPr>
        <p:spPr>
          <a:xfrm>
            <a:off x="762000" y="2374146"/>
            <a:ext cx="53138" cy="4813988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3" name="Text 28"/>
          <p:cNvSpPr/>
          <p:nvPr/>
        </p:nvSpPr>
        <p:spPr>
          <a:xfrm>
            <a:off x="1015999" y="2463045"/>
            <a:ext cx="2656897" cy="6672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15999" y="2953826"/>
            <a:ext cx="6604000" cy="64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plot_director_dist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director_counts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['director'].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value_counts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().head(15)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plt.figure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figsize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=(10, 6))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director_counts.plot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(kind='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barh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', color='#2E8B57')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plt.title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高产导演作品数量分布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plt.xlabel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电影数量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plt.ylabel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导演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plt.savefig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('director_dist.png', dpi=300,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bbox_inches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='tight')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91047" y="2318826"/>
            <a:ext cx="8477906" cy="137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本函数专注于呈现导演创作能力与上榜频次的分布特征。通过横向柱状图优化长名称可读性，自动筛选 </a:t>
            </a:r>
            <a:r>
              <a:rPr lang="en-US" altLang="zh-CN" dirty="0"/>
              <a:t>Top15 </a:t>
            </a:r>
            <a:r>
              <a:rPr lang="zh-CN" altLang="en-US" dirty="0"/>
              <a:t>高频导演，突出头部创作者集中度。函数内置统计逻辑，无需外部预处理，实现 “输入即输出” 的轻量化设计，适合快速生成统计结论图表。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4"/>
          <p:cNvSpPr/>
          <p:nvPr/>
        </p:nvSpPr>
        <p:spPr>
          <a:xfrm>
            <a:off x="193899" y="1684581"/>
            <a:ext cx="2968861" cy="24595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④ 导演分布图</a:t>
            </a:r>
            <a:endParaRPr lang="en-US" sz="14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6517" y="3885896"/>
            <a:ext cx="7538447" cy="45598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7类专业可视化图表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1" name="Shape 26"/>
          <p:cNvSpPr/>
          <p:nvPr/>
        </p:nvSpPr>
        <p:spPr>
          <a:xfrm>
            <a:off x="762000" y="2374146"/>
            <a:ext cx="5910020" cy="4813988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2" name="Shape 27"/>
          <p:cNvSpPr/>
          <p:nvPr/>
        </p:nvSpPr>
        <p:spPr>
          <a:xfrm>
            <a:off x="762000" y="2374146"/>
            <a:ext cx="53138" cy="4813988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3" name="Text 28"/>
          <p:cNvSpPr/>
          <p:nvPr/>
        </p:nvSpPr>
        <p:spPr>
          <a:xfrm>
            <a:off x="1015999" y="2463045"/>
            <a:ext cx="2656897" cy="6672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15999" y="2953826"/>
            <a:ext cx="6604000" cy="64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plot_sentiment_dist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sentiment_counts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plt.figure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figsize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=(8, 6))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sentiment_counts.plot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(kind='bar', color=['#2E8B57', '#DAA520', '#708090'])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plt.title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短评情感倾向分布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plt.xlabel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情感倾向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plt.ylabel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评论数量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plt.savefig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('sentiment_dist.png', dpi=300,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bbox_inches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='tight')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91047" y="2318826"/>
            <a:ext cx="8477906" cy="137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本函数设计用于直观展示用户评论的情感结构占比。采用分类柱状图呈现正面、中性、负面评论数量，配色与情感类型强关联，提升视觉辨识度。函数接收情感统计结果直接绘图，与情感分析模块无缝衔接，形成 “分析→可视化” 完整链路。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5"/>
          <p:cNvSpPr/>
          <p:nvPr/>
        </p:nvSpPr>
        <p:spPr>
          <a:xfrm>
            <a:off x="-614551" y="1599446"/>
            <a:ext cx="469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⑤ 情感分布柱状图</a:t>
            </a:r>
            <a:endParaRPr lang="en-US" sz="14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750" y="4057009"/>
            <a:ext cx="6093153" cy="44928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7类专业可视化图表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1" name="Shape 26"/>
          <p:cNvSpPr/>
          <p:nvPr/>
        </p:nvSpPr>
        <p:spPr>
          <a:xfrm>
            <a:off x="762000" y="2374146"/>
            <a:ext cx="5910020" cy="4813988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2" name="Shape 27"/>
          <p:cNvSpPr/>
          <p:nvPr/>
        </p:nvSpPr>
        <p:spPr>
          <a:xfrm>
            <a:off x="762000" y="2374146"/>
            <a:ext cx="53138" cy="4813988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3" name="Text 28"/>
          <p:cNvSpPr/>
          <p:nvPr/>
        </p:nvSpPr>
        <p:spPr>
          <a:xfrm>
            <a:off x="1015999" y="2463045"/>
            <a:ext cx="2656897" cy="6672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15999" y="2953826"/>
            <a:ext cx="6604000" cy="64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generate_wordcloud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(keywords):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wc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WordCloud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font_path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msyh.ttc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',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background_color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='white',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width=1000, height=800,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max_words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=100,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max_font_size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=150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wc.generate_from_frequencies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dict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(keywords))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wc.to_file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('comment_wordcloud.png')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91047" y="2318826"/>
            <a:ext cx="8477906" cy="137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本函数面向非结构化文本的可视化需求设计，将高频关键词转化为直观词云。通过中文字体配置解决乱码问题，基于词频自动调整字号大小，突出核心评价词汇。函数参数轻量化、输出高清化，适配 </a:t>
            </a:r>
            <a:r>
              <a:rPr lang="en-US" altLang="zh-CN" dirty="0"/>
              <a:t>PPT </a:t>
            </a:r>
            <a:r>
              <a:rPr lang="zh-CN" altLang="en-US" dirty="0"/>
              <a:t>展示与文本挖掘结论呈现。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6"/>
          <p:cNvSpPr/>
          <p:nvPr/>
        </p:nvSpPr>
        <p:spPr>
          <a:xfrm>
            <a:off x="-952500" y="1658371"/>
            <a:ext cx="469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⑥ </a:t>
            </a:r>
            <a:r>
              <a:rPr lang="en-US" sz="1400" dirty="0" err="1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短评词云</a:t>
            </a: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endParaRPr lang="en-US" sz="14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5090" y="4054533"/>
            <a:ext cx="8077615" cy="402610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7类专业可视化图表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1" name="Shape 26"/>
          <p:cNvSpPr/>
          <p:nvPr/>
        </p:nvSpPr>
        <p:spPr>
          <a:xfrm>
            <a:off x="762000" y="2374146"/>
            <a:ext cx="5910020" cy="4813988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2" name="Shape 27"/>
          <p:cNvSpPr/>
          <p:nvPr/>
        </p:nvSpPr>
        <p:spPr>
          <a:xfrm>
            <a:off x="762000" y="2374146"/>
            <a:ext cx="53138" cy="4813988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3" name="Text 28"/>
          <p:cNvSpPr/>
          <p:nvPr/>
        </p:nvSpPr>
        <p:spPr>
          <a:xfrm>
            <a:off x="1015999" y="2463045"/>
            <a:ext cx="2656897" cy="66724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15999" y="2953826"/>
            <a:ext cx="6604000" cy="64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plot_genre_pie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genres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df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['genre'].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str.split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().explode()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genre_counts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genres.value_counts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().head(5)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plt.figure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figsize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=(8, 8))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plt.pie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genre_counts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labels=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genre_counts.index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autopct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='%1.1f%%', colors=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sns.color_palette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("Set2"))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plt.title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</a:t>
            </a:r>
            <a:r>
              <a:rPr lang="zh-CN" altLang="en-US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电影类型占比分布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plt.savefig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('genre_pie.png', dpi=300, </a:t>
            </a:r>
            <a:r>
              <a:rPr lang="en-US" altLang="zh-CN" sz="13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bbox_inches</a:t>
            </a:r>
            <a:r>
              <a:rPr lang="en-US" altLang="zh-CN" sz="13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='tight')</a:t>
            </a:r>
            <a:endParaRPr lang="en-US" altLang="zh-CN" sz="13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91047" y="2318826"/>
            <a:ext cx="8477906" cy="1814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本函数设计目标是清晰呈现高分电影的类型结构与偏好。通过拆分多标签类型实现精准统计，自动筛选主流类型；采用百分比标注的饼图直观展示占比关系。函数内置数据展开与统计逻辑，降低使用成本，实现从清洗数据到结构占比可视化的一站式生成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6"/>
          <p:cNvSpPr/>
          <p:nvPr/>
        </p:nvSpPr>
        <p:spPr>
          <a:xfrm>
            <a:off x="-952500" y="1633780"/>
            <a:ext cx="469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⑦ 类型饼图</a:t>
            </a:r>
            <a:endParaRPr lang="en-US" sz="140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5928" y="4133362"/>
            <a:ext cx="4861972" cy="48959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524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D4943A">
                    <a:alpha val="18824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127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492500"/>
            <a:ext cx="1016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5" name="Text 3"/>
          <p:cNvSpPr/>
          <p:nvPr/>
        </p:nvSpPr>
        <p:spPr>
          <a:xfrm>
            <a:off x="762000" y="37465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46355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MySQL关系型数据库设计、双表外键关联、批量插入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MySQL数据库设计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Text 11"/>
          <p:cNvSpPr/>
          <p:nvPr/>
        </p:nvSpPr>
        <p:spPr>
          <a:xfrm>
            <a:off x="762000" y="1460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表结构关系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1930400"/>
            <a:ext cx="6858000" cy="5753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4C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1930400"/>
            <a:ext cx="6858000" cy="4064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16" name="Text 14"/>
          <p:cNvSpPr/>
          <p:nvPr/>
        </p:nvSpPr>
        <p:spPr>
          <a:xfrm>
            <a:off x="889000" y="1930400"/>
            <a:ext cx="254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movies 表（主表）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9000" y="2412999"/>
            <a:ext cx="6604000" cy="49874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CREATE TABLE IF NOT EXISTS movies (</a:t>
            </a:r>
            <a:endParaRPr lang="en-US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id INT AUTO_INCREMENT PRIMARY KEY,</a:t>
            </a:r>
            <a:endParaRPr lang="en-US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rank_num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INT UNIQUE NOT NULL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排名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title VARCHAR(255) NOT NULL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中文标题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rating FLOAT NOT NULL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评分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comment_num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INT DEFAULT 0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评价人数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info TEXT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电影信息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quote TEXT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经典台词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detail_url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VARCHAR(512) DEFAULT ''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详情页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URL',</a:t>
            </a:r>
            <a:endParaRPr lang="en-US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poster_path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VARCHAR(512) DEFAULT ''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海报路径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year VARCHAR(10) DEFAULT ''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上映年份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runtime VARCHAR(20) DEFAULT ''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片长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imdb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VARCHAR(20) DEFAULT '' COMMENT 'IMDb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编号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genre VARCHAR(255) DEFAULT ''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电影类型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director VARCHAR(255) DEFAULT ''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导演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actors TEXT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主演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2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created_at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TIMESTAMP DEFAULT CURRENT_TIMESTAMP COMMENT '</a:t>
            </a:r>
            <a:r>
              <a:rPr lang="zh-CN" alt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创建时间</a:t>
            </a: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</a:t>
            </a:r>
            <a:endParaRPr lang="en-US" altLang="zh-CN" sz="12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) 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ENGINE=</a:t>
            </a:r>
            <a:r>
              <a:rPr lang="en-US" sz="12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InnoDB</a:t>
            </a:r>
            <a:r>
              <a:rPr lang="en-US" sz="12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DEFAULT CHARSET=utf8mb4 COLLATE=utf8mb4_unicode_ci;</a:t>
            </a:r>
            <a:endParaRPr lang="en-US" sz="1600" dirty="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382000" y="1930400"/>
            <a:ext cx="7112000" cy="57531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2000" y="1930400"/>
            <a:ext cx="7112000" cy="4064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0" name="Text 18"/>
          <p:cNvSpPr/>
          <p:nvPr/>
        </p:nvSpPr>
        <p:spPr>
          <a:xfrm>
            <a:off x="8509000" y="1930400"/>
            <a:ext cx="254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comments 表（子表）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2412999"/>
            <a:ext cx="6858000" cy="43942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CREATE TABLE IF NOT EXISTS comments (</a:t>
            </a:r>
            <a:endParaRPr lang="en-US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id INT AUTO_INCREMENT PRIMARY KEY,</a:t>
            </a:r>
            <a:endParaRPr lang="en-US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1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movie_id</a:t>
            </a: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INT NOT NULL COMMENT '</a:t>
            </a:r>
            <a:r>
              <a:rPr lang="zh-CN" alt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电影</a:t>
            </a: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ID',</a:t>
            </a:r>
            <a:endParaRPr lang="en-US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username VARCHAR(100) COMMENT '</a:t>
            </a:r>
            <a:r>
              <a:rPr lang="zh-CN" alt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评论用户名</a:t>
            </a:r>
            <a:r>
              <a:rPr lang="en-US" altLang="zh-CN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rating VARCHAR(10) COMMENT '</a:t>
            </a:r>
            <a:r>
              <a:rPr lang="zh-CN" alt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用户评分</a:t>
            </a:r>
            <a:r>
              <a:rPr lang="en-US" altLang="zh-CN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content TEXT NOT NULL COMMENT '</a:t>
            </a:r>
            <a:r>
              <a:rPr lang="zh-CN" alt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评论内容</a:t>
            </a:r>
            <a:r>
              <a:rPr lang="en-US" altLang="zh-CN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1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created_at</a:t>
            </a: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TIMESTAMP DEFAULT CURRENT_TIMESTAMP COMMENT '</a:t>
            </a:r>
            <a:r>
              <a:rPr lang="zh-CN" alt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评论时间</a:t>
            </a:r>
            <a:r>
              <a:rPr lang="en-US" altLang="zh-CN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',</a:t>
            </a:r>
            <a:endParaRPr lang="en-US" altLang="zh-CN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   </a:t>
            </a: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FOREIGN KEY (</a:t>
            </a:r>
            <a:r>
              <a:rPr lang="en-US" sz="11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movie_id</a:t>
            </a: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) REFERENCES movies(id) ON DELETE CASCADE</a:t>
            </a:r>
            <a:endParaRPr lang="en-US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) ENGINE=</a:t>
            </a:r>
            <a:r>
              <a:rPr lang="en-US" sz="1100" dirty="0" err="1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InnoDB</a:t>
            </a:r>
            <a:r>
              <a:rPr lang="en-US" sz="1100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 DEFAULT CHARSET=utf8mb4 COLLATE=utf8mb4_unicode_ci;</a:t>
            </a:r>
            <a:endParaRPr lang="en-US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endParaRPr lang="en-US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endParaRPr lang="en-US" sz="1100" dirty="0">
              <a:solidFill>
                <a:srgbClr val="1A1A2E"/>
              </a:solidFill>
              <a:latin typeface="+mn-ea"/>
              <a:cs typeface="Quattrocento Sans" panose="020B0502050000020003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100" b="1" dirty="0" err="1">
                <a:solidFill>
                  <a:srgbClr val="D4943A"/>
                </a:solidFill>
                <a:latin typeface="+mn-ea"/>
                <a:cs typeface="Quattrocento Sans" panose="020B0502050000020003" pitchFamily="34" charset="-120"/>
              </a:rPr>
              <a:t>外键关联：comments.movie_id</a:t>
            </a:r>
            <a:r>
              <a:rPr lang="en-US" sz="1100" b="1" dirty="0">
                <a:solidFill>
                  <a:srgbClr val="D4943A"/>
                </a:solidFill>
                <a:latin typeface="+mn-ea"/>
                <a:cs typeface="Quattrocento Sans" panose="020B0502050000020003" pitchFamily="34" charset="-120"/>
              </a:rPr>
              <a:t> → movies.id</a:t>
            </a:r>
            <a:endParaRPr lang="en-US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sz="1100" b="1" dirty="0">
                <a:solidFill>
                  <a:srgbClr val="1A1A2E"/>
                </a:solidFill>
                <a:latin typeface="+mn-ea"/>
                <a:cs typeface="Quattrocento Sans" panose="020B0502050000020003" pitchFamily="34" charset="-120"/>
              </a:rPr>
              <a:t>级联删除：删除电影时自动清除关联评论</a:t>
            </a:r>
            <a:endParaRPr lang="en-US" sz="1600" dirty="0">
              <a:latin typeface="+mn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0" y="4840170"/>
            <a:ext cx="762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9" name="Text 27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MySQL数据库设计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3" name="Text 21"/>
          <p:cNvSpPr/>
          <p:nvPr/>
        </p:nvSpPr>
        <p:spPr>
          <a:xfrm>
            <a:off x="762000" y="1651000"/>
            <a:ext cx="7112000" cy="686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自动创建数据库（utf8mb4字符集）</a:t>
            </a:r>
            <a:endParaRPr 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2476070"/>
            <a:ext cx="6858000" cy="3825958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5" name="Shape 23"/>
          <p:cNvSpPr/>
          <p:nvPr/>
        </p:nvSpPr>
        <p:spPr>
          <a:xfrm>
            <a:off x="762000" y="2476070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6" name="Text 24"/>
          <p:cNvSpPr/>
          <p:nvPr/>
        </p:nvSpPr>
        <p:spPr>
          <a:xfrm>
            <a:off x="1016000" y="256497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000" y="2920570"/>
            <a:ext cx="6604000" cy="3442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init_tables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(self,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sql_file_path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=None):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self.create_database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self.use_database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if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sql_file_path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and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self.execute_sql_file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sql_file_path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return True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self.create_movies_table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self.create_comments_table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39000" y="650197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8655803" y="1641099"/>
            <a:ext cx="7112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en-US" sz="1600" b="1" dirty="0" err="1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智能建表：优先执行SQL脚本，失败则自动CREATE</a:t>
            </a: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 TABLE</a:t>
            </a:r>
            <a:endParaRPr 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655803" y="2477579"/>
            <a:ext cx="6858000" cy="382445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3" name="Shape 23"/>
          <p:cNvSpPr/>
          <p:nvPr/>
        </p:nvSpPr>
        <p:spPr>
          <a:xfrm>
            <a:off x="8655803" y="2477579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4" name="Text 24"/>
          <p:cNvSpPr/>
          <p:nvPr/>
        </p:nvSpPr>
        <p:spPr>
          <a:xfrm>
            <a:off x="8909803" y="2566479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8909803" y="2922078"/>
            <a:ext cx="6604000" cy="3303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init_connection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(self):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self.connection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pymysql.connect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host=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self.host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port=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self.port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user=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self.user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password=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self.password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charset='utf8mb4',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cursorclass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=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pymysql.cursors.DictCursor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self.cursor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self.connection.cursor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6" name="Text 27"/>
          <p:cNvSpPr/>
          <p:nvPr/>
        </p:nvSpPr>
        <p:spPr>
          <a:xfrm>
            <a:off x="15132803" y="6503479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17</a:t>
            </a:r>
            <a:endParaRPr lang="en-US" sz="1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528664" y="6654370"/>
            <a:ext cx="7345336" cy="2005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000" dirty="0"/>
              <a:t>先自动创建数据库，再优先执行外部 </a:t>
            </a:r>
            <a:r>
              <a:rPr lang="en-US" altLang="zh-CN" sz="2000" dirty="0"/>
              <a:t>SQL </a:t>
            </a:r>
            <a:r>
              <a:rPr lang="zh-CN" altLang="en-US" sz="2000" dirty="0"/>
              <a:t>文件完成建表，提升灵活性；若文件不存在或执行失败，则自动调用内置建表方法创建两张核心表，保证项目在任何环境下都能稳定运行，大幅降低部署成本与使用门槛。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504909" y="6643664"/>
            <a:ext cx="7413787" cy="1814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统一封装数据库连接逻辑，通过配置参数建立与 </a:t>
            </a:r>
            <a:r>
              <a:rPr lang="en-US" altLang="zh-CN" dirty="0"/>
              <a:t>MySQL </a:t>
            </a:r>
            <a:r>
              <a:rPr lang="zh-CN" altLang="en-US" dirty="0"/>
              <a:t>服务器的连接，指定</a:t>
            </a:r>
            <a:r>
              <a:rPr lang="en-US" altLang="zh-CN" dirty="0"/>
              <a:t>utf8mb4</a:t>
            </a:r>
            <a:r>
              <a:rPr lang="zh-CN" altLang="en-US" dirty="0"/>
              <a:t>字符集保证中文数据正常读写；使用字典游标让查询结果以键值对形式返回，便于按字段名直观读取数据；初始化游标对象用于执行所有 </a:t>
            </a:r>
            <a:r>
              <a:rPr lang="en-US" altLang="zh-CN" dirty="0"/>
              <a:t>SQL </a:t>
            </a:r>
            <a:r>
              <a:rPr lang="zh-CN" altLang="en-US" dirty="0"/>
              <a:t>操作，为数据读写提供稳定可靠的连接基础。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MySQL数据库设计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3" name="Text 21"/>
          <p:cNvSpPr/>
          <p:nvPr/>
        </p:nvSpPr>
        <p:spPr>
          <a:xfrm>
            <a:off x="762000" y="1651000"/>
            <a:ext cx="7112000" cy="686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zh-CN" alt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批量数据插入</a:t>
            </a:r>
            <a:endParaRPr 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2276099"/>
            <a:ext cx="6858000" cy="3682999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5" name="Shape 23"/>
          <p:cNvSpPr/>
          <p:nvPr/>
        </p:nvSpPr>
        <p:spPr>
          <a:xfrm>
            <a:off x="762000" y="2276099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6" name="Text 24"/>
          <p:cNvSpPr/>
          <p:nvPr/>
        </p:nvSpPr>
        <p:spPr>
          <a:xfrm>
            <a:off x="1016000" y="2364999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000" y="2720598"/>
            <a:ext cx="6604000" cy="3305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insert_movies_batch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(self,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movies_data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self.truncate_table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('movies')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insert_sql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= """INSERT INTO movies (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rank_num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title, rating,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comment_num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info, quote,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detail_url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poster_path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year, runtime,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imdb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genre, director, actors)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VALUES (%s, %s, %s, %s, %s, %s, %s, %s, %s, %s, %s, %s, %s, %s)"""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self.cursor.executemany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insert_sql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movies_data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 21"/>
          <p:cNvSpPr/>
          <p:nvPr/>
        </p:nvSpPr>
        <p:spPr>
          <a:xfrm>
            <a:off x="8655803" y="1641099"/>
            <a:ext cx="7112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zh-CN" alt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事务管理</a:t>
            </a:r>
            <a:endParaRPr 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655803" y="2277607"/>
            <a:ext cx="6858000" cy="3735735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3" name="Shape 23"/>
          <p:cNvSpPr/>
          <p:nvPr/>
        </p:nvSpPr>
        <p:spPr>
          <a:xfrm>
            <a:off x="8655803" y="2277608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4" name="Text 24"/>
          <p:cNvSpPr/>
          <p:nvPr/>
        </p:nvSpPr>
        <p:spPr>
          <a:xfrm>
            <a:off x="8909803" y="2366508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8909803" y="2722107"/>
            <a:ext cx="6604000" cy="3303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try: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self.cursor.executemany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insert_sql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movies_data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self.connection.commit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except Exception as e: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self.connection.rollback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87400" y="6035297"/>
            <a:ext cx="6807200" cy="2499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sz="2000" dirty="0">
                <a:latin typeface="+mn-ea"/>
              </a:rPr>
              <a:t>针对爬取的大量电影数据，采用</a:t>
            </a:r>
            <a:r>
              <a:rPr lang="en-US" altLang="zh-CN" sz="2000" dirty="0" err="1">
                <a:latin typeface="+mn-ea"/>
              </a:rPr>
              <a:t>executemany</a:t>
            </a:r>
            <a:r>
              <a:rPr lang="zh-CN" altLang="en-US" sz="2000" dirty="0">
                <a:latin typeface="+mn-ea"/>
              </a:rPr>
              <a:t>实现高性能批量插入，相比逐条插入大幅减少数据库交互次数，提升写入效率；插入前自动清空表中旧数据，避免重复存储导致数据混乱；</a:t>
            </a:r>
            <a:r>
              <a:rPr lang="en-US" altLang="zh-CN" sz="2000" dirty="0">
                <a:latin typeface="+mn-ea"/>
              </a:rPr>
              <a:t>SQL </a:t>
            </a:r>
            <a:r>
              <a:rPr lang="zh-CN" altLang="en-US" sz="2000" dirty="0">
                <a:latin typeface="+mn-ea"/>
              </a:rPr>
              <a:t>语句字段与表结构、爬取数据结构完全对应，保证数据写入规范、准确。</a:t>
            </a:r>
            <a:endParaRPr lang="en-US" altLang="zh-CN" sz="2000" dirty="0">
              <a:latin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702300" y="6121831"/>
            <a:ext cx="6807198" cy="2257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基于数据库事务原子性保障数据安全，所有批量写入操作均包裹在事务中。数据写入成功后执行</a:t>
            </a:r>
            <a:r>
              <a:rPr lang="en-US" altLang="zh-CN" dirty="0"/>
              <a:t>commit</a:t>
            </a:r>
            <a:r>
              <a:rPr lang="zh-CN" altLang="en-US" dirty="0"/>
              <a:t>提交事务，永久保存数据；若执行过程中出现异常、错误，则立即执行</a:t>
            </a:r>
            <a:r>
              <a:rPr lang="en-US" altLang="zh-CN" dirty="0"/>
              <a:t>rollback</a:t>
            </a:r>
            <a:r>
              <a:rPr lang="zh-CN" altLang="en-US" dirty="0"/>
              <a:t>回滚事务，撤销本次所有写入操作，避免数据损坏、缺失或不一致，保证数据可靠性。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MySQL数据库设计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3" name="Text 21"/>
          <p:cNvSpPr/>
          <p:nvPr/>
        </p:nvSpPr>
        <p:spPr>
          <a:xfrm>
            <a:off x="762000" y="1651000"/>
            <a:ext cx="7112000" cy="686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zh-CN" alt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安全关闭连接</a:t>
            </a:r>
            <a:endParaRPr 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2476070"/>
            <a:ext cx="6858000" cy="374973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5" name="Shape 23"/>
          <p:cNvSpPr/>
          <p:nvPr/>
        </p:nvSpPr>
        <p:spPr>
          <a:xfrm>
            <a:off x="762000" y="2476070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6" name="Text 24"/>
          <p:cNvSpPr/>
          <p:nvPr/>
        </p:nvSpPr>
        <p:spPr>
          <a:xfrm>
            <a:off x="1016000" y="256497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000" y="2920569"/>
            <a:ext cx="6604000" cy="3305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close(self):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if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self.cursor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self.cursor.close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if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self.connection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self.connection.close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 21"/>
          <p:cNvSpPr/>
          <p:nvPr/>
        </p:nvSpPr>
        <p:spPr>
          <a:xfrm>
            <a:off x="8655803" y="1641099"/>
            <a:ext cx="7112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zh-CN" alt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上下文管理器支持（</a:t>
            </a: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with </a:t>
            </a:r>
            <a:r>
              <a:rPr lang="zh-CN" alt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语句）</a:t>
            </a:r>
            <a:endParaRPr 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655803" y="2477579"/>
            <a:ext cx="6858000" cy="374822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3" name="Shape 23"/>
          <p:cNvSpPr/>
          <p:nvPr/>
        </p:nvSpPr>
        <p:spPr>
          <a:xfrm>
            <a:off x="8655803" y="2477579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4" name="Text 24"/>
          <p:cNvSpPr/>
          <p:nvPr/>
        </p:nvSpPr>
        <p:spPr>
          <a:xfrm>
            <a:off x="8909803" y="2566479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8909803" y="2922078"/>
            <a:ext cx="6604000" cy="3303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__enter__(self):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self.init_connection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return self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def __exit__(self,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exc_type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exc_val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exc_tb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):</a:t>
            </a:r>
            <a:endParaRPr lang="en-US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</a:t>
            </a:r>
            <a:r>
              <a:rPr lang="en-US" sz="1400" dirty="0" err="1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self.close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()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87400" y="6503479"/>
            <a:ext cx="6723681" cy="1814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/>
              <a:t>实现安全资源释放机制，按照先关闭游标、再关闭数据库连接的顺序，主动释放系统资源；通过非空判断避免重复关闭引发异常，有效防止数据库连接泄漏问题，保证程序运行稳定、资源占用合理，提升整体系统可靠性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55803" y="6495087"/>
            <a:ext cx="67236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为</a:t>
            </a:r>
            <a:r>
              <a:rPr lang="en-US" altLang="zh-CN" dirty="0" err="1"/>
              <a:t>MySQLHandler</a:t>
            </a:r>
            <a:r>
              <a:rPr lang="zh-CN" altLang="en-US" dirty="0"/>
              <a:t>类实现 </a:t>
            </a:r>
            <a:r>
              <a:rPr lang="en-US" altLang="zh-CN" dirty="0"/>
              <a:t>Python </a:t>
            </a:r>
            <a:r>
              <a:rPr lang="zh-CN" altLang="en-US" dirty="0"/>
              <a:t>上下文管理器协议，通过</a:t>
            </a:r>
            <a:r>
              <a:rPr lang="en-US" altLang="zh-CN" dirty="0"/>
              <a:t>__enter__</a:t>
            </a:r>
            <a:r>
              <a:rPr lang="zh-CN" altLang="en-US" dirty="0"/>
              <a:t>和</a:t>
            </a:r>
            <a:r>
              <a:rPr lang="en-US" altLang="zh-CN" dirty="0"/>
              <a:t>__exit__</a:t>
            </a:r>
            <a:r>
              <a:rPr lang="zh-CN" altLang="en-US" dirty="0"/>
              <a:t>方法，支持使用</a:t>
            </a:r>
            <a:r>
              <a:rPr lang="en-US" altLang="zh-CN" dirty="0"/>
              <a:t>with</a:t>
            </a:r>
            <a:r>
              <a:rPr lang="zh-CN" altLang="en-US" dirty="0"/>
              <a:t>语句管理数据库连接的生命周期。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进入</a:t>
            </a:r>
            <a:r>
              <a:rPr lang="en-US" altLang="zh-CN" dirty="0"/>
              <a:t>with</a:t>
            </a:r>
            <a:r>
              <a:rPr lang="zh-CN" altLang="en-US" dirty="0"/>
              <a:t>代码块时，自动调用</a:t>
            </a:r>
            <a:r>
              <a:rPr lang="en-US" altLang="zh-CN" dirty="0"/>
              <a:t>__enter__</a:t>
            </a:r>
            <a:r>
              <a:rPr lang="zh-CN" altLang="en-US" dirty="0"/>
              <a:t>初始化数据库连接；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离开</a:t>
            </a:r>
            <a:r>
              <a:rPr lang="en-US" altLang="zh-CN" dirty="0"/>
              <a:t>with</a:t>
            </a:r>
            <a:r>
              <a:rPr lang="zh-CN" altLang="en-US" dirty="0"/>
              <a:t>代码块时，无论是否发生异常，都会自动调用</a:t>
            </a:r>
            <a:r>
              <a:rPr lang="en-US" altLang="zh-CN" dirty="0"/>
              <a:t>__exit__</a:t>
            </a:r>
            <a:r>
              <a:rPr lang="zh-CN" altLang="en-US" dirty="0"/>
              <a:t>关闭游标与连接，彻底避免连接泄漏。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这种设计简化了调用代码，无需手动编写</a:t>
            </a:r>
            <a:r>
              <a:rPr lang="en-US" altLang="zh-CN" dirty="0"/>
              <a:t>try-finally</a:t>
            </a:r>
            <a:r>
              <a:rPr lang="zh-CN" altLang="en-US" dirty="0"/>
              <a:t>关闭连接，既提升了代码的安全性，也让业务逻辑更简洁清晰。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524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D4943A">
                    <a:alpha val="18824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127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492500"/>
            <a:ext cx="1016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5" name="Text 3"/>
          <p:cNvSpPr/>
          <p:nvPr/>
        </p:nvSpPr>
        <p:spPr>
          <a:xfrm>
            <a:off x="762000" y="37465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Scrapy高性能架构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46355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Scrapy框架重构、数据管道、中间件设计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Scrapy框架核心组件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Text 11"/>
          <p:cNvSpPr/>
          <p:nvPr/>
        </p:nvSpPr>
        <p:spPr>
          <a:xfrm>
            <a:off x="762000" y="1219200"/>
            <a:ext cx="482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组件架构图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842000" y="1625600"/>
            <a:ext cx="45720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15" name="Text 13"/>
          <p:cNvSpPr/>
          <p:nvPr/>
        </p:nvSpPr>
        <p:spPr>
          <a:xfrm>
            <a:off x="5842000" y="1625600"/>
            <a:ext cx="457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Engine 引擎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18000" y="1943100"/>
            <a:ext cx="152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414000" y="1943100"/>
            <a:ext cx="1524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62000" y="1625600"/>
            <a:ext cx="3556000" cy="635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9" name="Text 17"/>
          <p:cNvSpPr/>
          <p:nvPr/>
        </p:nvSpPr>
        <p:spPr>
          <a:xfrm>
            <a:off x="762000" y="1625600"/>
            <a:ext cx="355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Spider 爬虫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938000" y="1625600"/>
            <a:ext cx="3556000" cy="635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1" name="Text 19"/>
          <p:cNvSpPr/>
          <p:nvPr/>
        </p:nvSpPr>
        <p:spPr>
          <a:xfrm>
            <a:off x="11938000" y="1625600"/>
            <a:ext cx="355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Pipeline 管道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42000" y="2514600"/>
            <a:ext cx="4572000" cy="6350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3" name="Text 21"/>
          <p:cNvSpPr/>
          <p:nvPr/>
        </p:nvSpPr>
        <p:spPr>
          <a:xfrm>
            <a:off x="5842000" y="2514600"/>
            <a:ext cx="457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Downloader Middleware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0" y="2260600"/>
            <a:ext cx="0" cy="254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62000" y="3365500"/>
            <a:ext cx="7112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000" y="3492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Pipeline 四级管道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3911600"/>
            <a:ext cx="6604000" cy="187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① </a:t>
            </a:r>
            <a:r>
              <a:rPr lang="en-US" sz="14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ValidationPipeline</a:t>
            </a: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(100) — 数据校验与清洗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② </a:t>
            </a:r>
            <a:r>
              <a:rPr lang="en-US" sz="14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SQLitePipeline</a:t>
            </a: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(200) — 写入SQLite数据库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③ </a:t>
            </a:r>
            <a:r>
              <a:rPr lang="en-US" sz="14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JsonExportPipeline</a:t>
            </a: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(300) — 导出JSON文件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④ </a:t>
            </a:r>
            <a:r>
              <a:rPr lang="en-US" sz="14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CsvExportPipeline</a:t>
            </a: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(400) — 导出CSV文件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优先级数字越小越先执行，形成完整数据流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3365500"/>
            <a:ext cx="7112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36000" y="3492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Middleware 中间件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3911600"/>
            <a:ext cx="6604000" cy="187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</a:t>
            </a:r>
            <a:r>
              <a:rPr lang="en-US" sz="14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SeleniumRenderMiddleware</a:t>
            </a: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(100) — 动态渲染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</a:t>
            </a:r>
            <a:r>
              <a:rPr lang="en-US" sz="14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RandomUserAgentMiddleware</a:t>
            </a: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(400) — 随机UA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</a:t>
            </a:r>
            <a:r>
              <a:rPr lang="en-US" sz="14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RandomDelayMiddleware</a:t>
            </a: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(500) — 随机延时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• </a:t>
            </a:r>
            <a:r>
              <a:rPr lang="en-US" sz="1400" b="1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DoubanRetryMiddleware</a:t>
            </a:r>
            <a:r>
              <a:rPr lang="en-US" sz="14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(600) — 智能重试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DOWNLOADER_MIDDLEWARES按优先级排序执行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6096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核心配置（settings.py）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762000" y="6540500"/>
          <a:ext cx="14732000" cy="1841501"/>
        </p:xfrm>
        <a:graphic>
          <a:graphicData uri="http://schemas.openxmlformats.org/drawingml/2006/table">
            <a:tbl>
              <a:tblPr/>
              <a:tblGrid>
                <a:gridCol w="4124960"/>
                <a:gridCol w="5303520"/>
                <a:gridCol w="5303520"/>
              </a:tblGrid>
              <a:tr h="49874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配置项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值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说明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</a:tr>
              <a:tr h="44758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CONCURRENT_REQUESTS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限制并发，降低封IP风险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4758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DOWNLOAD_DELAY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2秒 + 随机化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基础下载延时，避免请求过快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58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RETRY_TIMES / HTTP_CODES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5次 / [403,429,500-504]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egoe Print" panose="02000600000000000000" charset="0"/>
                        </a:rPr>
                        <a:t>指定重试次数和触发状态码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" name="Text 31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+mn-ea"/>
              </a:rPr>
              <a:t>Scrapy框架核心组件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3" name="Text 21"/>
          <p:cNvSpPr/>
          <p:nvPr/>
        </p:nvSpPr>
        <p:spPr>
          <a:xfrm>
            <a:off x="762000" y="1651000"/>
            <a:ext cx="7112000" cy="686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Item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数据模型设计（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items.py）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2475865"/>
            <a:ext cx="6858000" cy="400177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5" name="Shape 23"/>
          <p:cNvSpPr/>
          <p:nvPr/>
        </p:nvSpPr>
        <p:spPr>
          <a:xfrm>
            <a:off x="762000" y="2476070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6" name="Text 24"/>
          <p:cNvSpPr/>
          <p:nvPr/>
        </p:nvSpPr>
        <p:spPr>
          <a:xfrm>
            <a:off x="1016000" y="256497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000" y="2846274"/>
            <a:ext cx="6604000" cy="3305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class DoubanMovieItem(scrapy.Item):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rank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title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rating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comment_num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info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quote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detail_url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poster_url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year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runtime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imdb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genre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director = scrapy.Field()</a:t>
            </a:r>
            <a:endParaRPr lang="en-US" altLang="zh-CN" sz="1400" dirty="0">
              <a:solidFill>
                <a:schemeClr val="bg1"/>
              </a:solidFill>
              <a:ea typeface="Segoe Print" panose="02000600000000000000" charset="0"/>
              <a:cs typeface="Segoe Print" panose="02000600000000000000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    actors = scrapy.Field()</a:t>
            </a:r>
            <a:r>
              <a:rPr lang="en-US" sz="1400" dirty="0">
                <a:solidFill>
                  <a:schemeClr val="bg1"/>
                </a:solidFill>
                <a:ea typeface="Segoe Print" panose="02000600000000000000" charset="0"/>
                <a:cs typeface="Segoe Print" panose="02000600000000000000" charset="0"/>
              </a:rPr>
              <a:t>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 21"/>
          <p:cNvSpPr/>
          <p:nvPr/>
        </p:nvSpPr>
        <p:spPr>
          <a:xfrm>
            <a:off x="8655803" y="1641099"/>
            <a:ext cx="7112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爬虫核心逻辑（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douban_spider.py）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655685" y="2477770"/>
            <a:ext cx="6858000" cy="4006215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3" name="Shape 23"/>
          <p:cNvSpPr/>
          <p:nvPr/>
        </p:nvSpPr>
        <p:spPr>
          <a:xfrm>
            <a:off x="8655803" y="2477579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4" name="Text 24"/>
          <p:cNvSpPr/>
          <p:nvPr/>
        </p:nvSpPr>
        <p:spPr>
          <a:xfrm>
            <a:off x="8909803" y="2566479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8909803" y="2922078"/>
            <a:ext cx="6604000" cy="3303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def start_requests(self):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for i in range(0, 250, 25):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    yield Request(f"https://movie.douban.com/top250?start={i}")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def parse(self, response):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    # 解析列表页 → 获取详情链接 → 进入详情页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    # 解析详情页 → 获取完整信息 → 进入评论页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    # 解析评论页 → 组装 </a:t>
            </a:r>
            <a:r>
              <a:rPr lang="en-US" altLang="zh-CN" sz="1400" dirty="0">
                <a:solidFill>
                  <a:schemeClr val="bg1"/>
                </a:solidFill>
              </a:rPr>
              <a:t>Item → </a:t>
            </a:r>
            <a:r>
              <a:rPr lang="zh-CN" altLang="en-US" sz="1400" dirty="0">
                <a:solidFill>
                  <a:schemeClr val="bg1"/>
                </a:solidFill>
              </a:rPr>
              <a:t>提交至管道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87400" y="6659689"/>
            <a:ext cx="6723681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Item </a:t>
            </a: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模块用于统一封装爬取数据结构，将电影排名、标题、评分、详情、海报、演员等所有字段标准化定义。这种设计让数据在爬虫、中间件、管道之间传递时结构统一、易于维护，同时保证字段清晰、可扩展，为后续数据清洗、存储、分析提供稳定的数据载体。</a:t>
            </a:r>
            <a:endParaRPr lang="zh-CN" altLang="en-US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06485" y="6638290"/>
            <a:ext cx="6723380" cy="14433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fontAlgn="auto"/>
            <a:r>
              <a:rPr lang="zh-CN" altLang="en-US" dirty="0"/>
              <a:t>爬虫采用分层解析架构，依次完成分页列表爬取、电影详情解析、评论信息抓取、海报链接提取，实现全流程自动化爬取。通过分步回调保证数据完整性，同时设置合理的请求间隔与异常处理，确保在不触发反爬的前提下稳定获取豆瓣 </a:t>
            </a:r>
            <a:r>
              <a:rPr lang="en-US" altLang="zh-CN" dirty="0"/>
              <a:t>Top250 </a:t>
            </a:r>
            <a:r>
              <a:rPr lang="zh-CN" altLang="en-US" dirty="0"/>
              <a:t>全部电影数据。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+mn-ea"/>
              </a:rPr>
              <a:t>Scrapy框架核心组件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3" name="Text 21"/>
          <p:cNvSpPr/>
          <p:nvPr/>
        </p:nvSpPr>
        <p:spPr>
          <a:xfrm>
            <a:off x="762000" y="1651000"/>
            <a:ext cx="7112000" cy="686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下载中间件（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middlewares.py）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2477770"/>
            <a:ext cx="6858000" cy="3881755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5" name="Shape 23"/>
          <p:cNvSpPr/>
          <p:nvPr/>
        </p:nvSpPr>
        <p:spPr>
          <a:xfrm>
            <a:off x="762000" y="2476070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6" name="Text 24"/>
          <p:cNvSpPr/>
          <p:nvPr/>
        </p:nvSpPr>
        <p:spPr>
          <a:xfrm>
            <a:off x="1016000" y="256497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000" y="2920569"/>
            <a:ext cx="6604000" cy="3305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# 随机</a:t>
            </a:r>
            <a:r>
              <a:rPr lang="en-US" altLang="zh-CN" sz="1400" dirty="0">
                <a:solidFill>
                  <a:schemeClr val="bg1"/>
                </a:solidFill>
              </a:rPr>
              <a:t>UA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request.headers["User-Agent"] = random.choice(UA_LIST)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# Selenium </a:t>
            </a:r>
            <a:r>
              <a:rPr lang="zh-CN" altLang="en-US" sz="1400" dirty="0">
                <a:solidFill>
                  <a:schemeClr val="bg1"/>
                </a:solidFill>
              </a:rPr>
              <a:t>渲染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driver.get(url)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return HtmlResponse(url, body=driver.page_source)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# 自动重试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if response.status in (403, 429):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return retry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# 请求延时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time.sleep(random.uniform(1, 3))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Text 21"/>
          <p:cNvSpPr/>
          <p:nvPr/>
        </p:nvSpPr>
        <p:spPr>
          <a:xfrm>
            <a:off x="8655803" y="1641099"/>
            <a:ext cx="7112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数据管道（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pipelines.py）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655803" y="2477579"/>
            <a:ext cx="6858000" cy="374822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3" name="Shape 23"/>
          <p:cNvSpPr/>
          <p:nvPr/>
        </p:nvSpPr>
        <p:spPr>
          <a:xfrm>
            <a:off x="8655803" y="2477579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4" name="Text 24"/>
          <p:cNvSpPr/>
          <p:nvPr/>
        </p:nvSpPr>
        <p:spPr>
          <a:xfrm>
            <a:off x="8909803" y="2566479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8909803" y="2922078"/>
            <a:ext cx="6604000" cy="3303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# 数据校验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def process_item(self, item, spider):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if not item.get("title"): drop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# 数据库存储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self.db.insert_movie(item)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# 批量插入 + 事务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self.cursor.executemany(sql, items)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self.conn.commit()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87400" y="6503479"/>
            <a:ext cx="6723681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中间件负责突破反爬机制与提升爬取稳定性，通过随机 </a:t>
            </a:r>
            <a:r>
              <a:rPr lang="en-US" altLang="zh-CN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User-Agent </a:t>
            </a: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模拟真实浏览器；使用 </a:t>
            </a:r>
            <a:r>
              <a:rPr lang="en-US" altLang="zh-CN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Selenium </a:t>
            </a: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渲染 </a:t>
            </a:r>
            <a:r>
              <a:rPr lang="en-US" altLang="zh-CN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JS </a:t>
            </a: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动态页面，解决页面加载不全问题；对 403、429 等异常状态码自动重试；加入随机延时降低访问频率。多层防护共同保证爬虫能够稳定、持续、隐蔽地完成爬取任务。</a:t>
            </a:r>
            <a:endParaRPr lang="zh-CN" altLang="en-US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55803" y="6495087"/>
            <a:ext cx="6723681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管道模块负责数据处理与持久化，先对爬取数据进行字段校验，过滤缺失、无效数据；再通过 </a:t>
            </a:r>
            <a:r>
              <a:rPr lang="en-US" altLang="zh-CN" dirty="0"/>
              <a:t>MySQLHandler </a:t>
            </a:r>
            <a:r>
              <a:rPr lang="zh-CN" altLang="en-US" dirty="0"/>
              <a:t>将结构化数据批量写入数据库，使用事务保证数据原子性与一致性；同时支持数据格式化输出，实现 “清洗→校验→入库” 的完整自动化流程。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  <a:sym typeface="+mn-ea"/>
              </a:rPr>
              <a:t>Scrapy框架核心组件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3" name="Text 21"/>
          <p:cNvSpPr/>
          <p:nvPr/>
        </p:nvSpPr>
        <p:spPr>
          <a:xfrm>
            <a:off x="762000" y="1651000"/>
            <a:ext cx="7112000" cy="686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项目配置文件（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settings.py）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2476070"/>
            <a:ext cx="6858000" cy="374973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25" name="Shape 23"/>
          <p:cNvSpPr/>
          <p:nvPr/>
        </p:nvSpPr>
        <p:spPr>
          <a:xfrm>
            <a:off x="762000" y="2476070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6" name="Text 24"/>
          <p:cNvSpPr/>
          <p:nvPr/>
        </p:nvSpPr>
        <p:spPr>
          <a:xfrm>
            <a:off x="1016000" y="256497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000" y="2920569"/>
            <a:ext cx="6604000" cy="3305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CONCURRENT_REQUESTS = 1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DOWNLOAD_DELAY = 2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ROBOTSTXT_OBEY = False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DOWNLOADER_MIDDLEWARES = {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"middlewares.RandomUA": 300,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"middlewares.SeleniumMiddleware": 200,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}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ITEM_PIPELINES = {"pipelines.DoubanPipeline": 300}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0" name="Text 21"/>
          <p:cNvSpPr/>
          <p:nvPr/>
        </p:nvSpPr>
        <p:spPr>
          <a:xfrm>
            <a:off x="8655803" y="1641099"/>
            <a:ext cx="7112000" cy="55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Print" panose="02000600000000000000" charset="0"/>
              </a:rPr>
              <a:t>•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上下文管理器（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MySQLHandler 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补充）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655803" y="2477579"/>
            <a:ext cx="6858000" cy="374822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33" name="Shape 23"/>
          <p:cNvSpPr/>
          <p:nvPr/>
        </p:nvSpPr>
        <p:spPr>
          <a:xfrm>
            <a:off x="8655803" y="2477579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4" name="Text 24"/>
          <p:cNvSpPr/>
          <p:nvPr/>
        </p:nvSpPr>
        <p:spPr>
          <a:xfrm>
            <a:off x="8909803" y="2566479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 err="1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核心代码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8909803" y="2922078"/>
            <a:ext cx="6604000" cy="3303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def __enter__(self):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self.init_connection()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return self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def __exit__(self, exc_type, exc_val, exc_tb):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self.close()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87400" y="6503479"/>
            <a:ext cx="6723681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Settings </a:t>
            </a: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统一管理项目全局配置，通过限制并发数、设置下载延时、配置请求头，降低被反爬识别的概率；按优先级注册中间件与管道，明确爬虫运行流程；关闭 </a:t>
            </a:r>
            <a:r>
              <a:rPr lang="en-US" altLang="zh-CN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robots </a:t>
            </a:r>
            <a:r>
              <a:rPr lang="zh-CN" altLang="en-US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协议限制以保证爬取权限，整体配置兼顾稳定性、安全性与执行效率。</a:t>
            </a:r>
            <a:endParaRPr lang="zh-CN" altLang="en-US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55803" y="6495087"/>
            <a:ext cx="6723681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为数据库操作实现上下文管理器，支持 </a:t>
            </a:r>
            <a:r>
              <a:rPr lang="en-US" altLang="zh-CN" dirty="0"/>
              <a:t>with </a:t>
            </a:r>
            <a:r>
              <a:rPr lang="zh-CN" altLang="en-US" dirty="0"/>
              <a:t>语句自动管理连接生命周期，进入时自动建立连接，退出时自动关闭连接与游标，避免资源泄漏与连接异常，让数据库操作更安全、代码更简洁。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524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D4943A">
                    <a:alpha val="18824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127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492500"/>
            <a:ext cx="1016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5" name="Text 3"/>
          <p:cNvSpPr/>
          <p:nvPr/>
        </p:nvSpPr>
        <p:spPr>
          <a:xfrm>
            <a:off x="762000" y="37465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46355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日志系统、工具类、项目结构、工程规范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工具模块与工程规范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utils 工具模块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0" y="1905000"/>
          <a:ext cx="13448030" cy="1653540"/>
        </p:xfrm>
        <a:graphic>
          <a:graphicData uri="http://schemas.openxmlformats.org/drawingml/2006/table">
            <a:tbl>
              <a:tblPr/>
              <a:tblGrid>
                <a:gridCol w="2420620"/>
                <a:gridCol w="4303395"/>
                <a:gridCol w="6724015"/>
              </a:tblGrid>
              <a:tr h="31178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模块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功能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技术细节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logger.py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统一日志管理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控制台+文件双输出，INFO/WARNING/ERROR/CRITICAL四级，带时间戳和行号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user_agents.py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随机UA池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维护100+条真实浏览器UA（Chrome/Firefox/Edge/Safari），随机轮换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proxy_pool.py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代理IP池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Segoe Print" panose="02000600000000000000" charset="0"/>
                          <a:ea typeface="Segoe Print" panose="02000600000000000000" charset="0"/>
                          <a:cs typeface="Segoe Print" panose="02000600000000000000" charset="0"/>
                        </a:rPr>
                        <a:t>HTTP/HTTPS/SOCKS代理管理，随机获取，失败自动更换，支持扩展</a:t>
                      </a:r>
                      <a:endParaRPr lang="en-US" sz="1600" dirty="0">
                        <a:latin typeface="Segoe Print" panose="02000600000000000000" charset="0"/>
                        <a:ea typeface="Segoe Print" panose="02000600000000000000" charset="0"/>
                        <a:cs typeface="Segoe Print" panose="02000600000000000000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40" name="文本框 39"/>
          <p:cNvSpPr txBox="1"/>
          <p:nvPr/>
        </p:nvSpPr>
        <p:spPr>
          <a:xfrm>
            <a:off x="754380" y="3765550"/>
            <a:ext cx="812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1.ogger.py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核心代码</a:t>
            </a:r>
            <a:endParaRPr lang="zh-CN" altLang="en-US" b="1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636905" y="4342765"/>
            <a:ext cx="6858000" cy="3881755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42" name="Shape 23"/>
          <p:cNvSpPr/>
          <p:nvPr/>
        </p:nvSpPr>
        <p:spPr>
          <a:xfrm>
            <a:off x="636905" y="4341065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44" name="Text 25"/>
          <p:cNvSpPr/>
          <p:nvPr/>
        </p:nvSpPr>
        <p:spPr>
          <a:xfrm>
            <a:off x="822960" y="4591889"/>
            <a:ext cx="6604000" cy="3305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import logging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from logging.handlers import RotatingFileHandler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def setup_logger(name):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logger = logging.getLogger(name)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logger.setLevel(logging.INFO)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</a:t>
            </a:r>
            <a:r>
              <a:rPr lang="zh-CN" altLang="en-US" sz="1400" dirty="0">
                <a:solidFill>
                  <a:schemeClr val="bg1"/>
                </a:solidFill>
              </a:rPr>
              <a:t>    # 控制台输出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console_handler = logging.StreamHandler()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    # 文件输出（自动切割日志）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file_handler = RotatingFileHandler('douban.log', maxBytes=1024*1024, backupCount=5)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45" name="Shape 22"/>
          <p:cNvSpPr/>
          <p:nvPr/>
        </p:nvSpPr>
        <p:spPr>
          <a:xfrm>
            <a:off x="8011160" y="4342765"/>
            <a:ext cx="6858000" cy="2437765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46" name="Shape 23"/>
          <p:cNvSpPr/>
          <p:nvPr/>
        </p:nvSpPr>
        <p:spPr>
          <a:xfrm>
            <a:off x="7934960" y="4428490"/>
            <a:ext cx="76200" cy="235204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47" name="Text 24"/>
          <p:cNvSpPr/>
          <p:nvPr/>
        </p:nvSpPr>
        <p:spPr>
          <a:xfrm>
            <a:off x="8265160" y="4429965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400" dirty="0"/>
          </a:p>
        </p:txBody>
      </p:sp>
      <p:sp>
        <p:nvSpPr>
          <p:cNvPr id="48" name="Text 25"/>
          <p:cNvSpPr/>
          <p:nvPr/>
        </p:nvSpPr>
        <p:spPr>
          <a:xfrm>
            <a:off x="8265160" y="4591889"/>
            <a:ext cx="6604000" cy="3305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formatter = logging.Formatter('%(asctime)s - %(levelname)s - %(message)s')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console_handler.setFormatter(formatter)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file_handler.setFormatter(formatter)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    logger.addHandler(console_handler)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logger.addHandler(file_handler)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return logger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 flipH="1">
            <a:off x="7934960" y="7075170"/>
            <a:ext cx="6975475" cy="1347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采用控制台 + 文件双输出模式，支持</a:t>
            </a:r>
            <a:r>
              <a:rPr lang="en-US" altLang="zh-CN"/>
              <a:t>INFO/WARNING/ERROR/CRITICAL </a:t>
            </a:r>
            <a:r>
              <a:rPr lang="zh-CN" altLang="en-US"/>
              <a:t>四级日志，通过时间戳和行号定位问题。日志文件按大小自动切割，避免单个文件过大，同时保留历史日志便于回溯爬虫过程中的异常与状态。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工具模块与工程规范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40" name="文本框 39"/>
          <p:cNvSpPr txBox="1"/>
          <p:nvPr/>
        </p:nvSpPr>
        <p:spPr>
          <a:xfrm>
            <a:off x="629920" y="1614170"/>
            <a:ext cx="812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2.user_agents.py（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 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UA 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池）</a:t>
            </a:r>
            <a:endParaRPr lang="zh-CN" altLang="en-US" b="1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568960" y="2301240"/>
            <a:ext cx="6858000" cy="369951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42" name="Shape 23"/>
          <p:cNvSpPr/>
          <p:nvPr/>
        </p:nvSpPr>
        <p:spPr>
          <a:xfrm>
            <a:off x="568960" y="2299540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44" name="Text 25"/>
          <p:cNvSpPr/>
          <p:nvPr/>
        </p:nvSpPr>
        <p:spPr>
          <a:xfrm>
            <a:off x="755015" y="2550364"/>
            <a:ext cx="6604000" cy="3305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import random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UA_LIST = [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"Mozilla/5.0 (Windows NT 10.0; Win64; x64) AppleWebKit/537.36 ...",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"Mozilla/5.0 (Macintosh; Intel Mac OS X 10_15_7) AppleWebKit/605.1.15 ...",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    # 维护100+条真实浏览器</a:t>
            </a:r>
            <a:r>
              <a:rPr lang="en-US" altLang="zh-CN" sz="1400" dirty="0">
                <a:solidFill>
                  <a:schemeClr val="bg1"/>
                </a:solidFill>
              </a:rPr>
              <a:t>UA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]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def get_random_ua():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return random.choice(UA_LIST)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83625" y="1614170"/>
            <a:ext cx="812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proxy_pool.py（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 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 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池）</a:t>
            </a:r>
            <a:endParaRPr lang="zh-CN" altLang="en-US" b="1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Shape 22"/>
          <p:cNvSpPr/>
          <p:nvPr/>
        </p:nvSpPr>
        <p:spPr>
          <a:xfrm>
            <a:off x="8622665" y="2301240"/>
            <a:ext cx="6858000" cy="3699510"/>
          </a:xfrm>
          <a:prstGeom prst="rect">
            <a:avLst/>
          </a:prstGeom>
          <a:solidFill>
            <a:srgbClr val="2D2D3A"/>
          </a:solidFill>
        </p:spPr>
      </p:sp>
      <p:sp>
        <p:nvSpPr>
          <p:cNvPr id="16" name="Shape 23"/>
          <p:cNvSpPr/>
          <p:nvPr/>
        </p:nvSpPr>
        <p:spPr>
          <a:xfrm>
            <a:off x="8622665" y="2299540"/>
            <a:ext cx="50800" cy="3556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7" name="Text 25"/>
          <p:cNvSpPr/>
          <p:nvPr/>
        </p:nvSpPr>
        <p:spPr>
          <a:xfrm>
            <a:off x="8808720" y="2550364"/>
            <a:ext cx="6604000" cy="3305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import random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PROXY_LIST = [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"http://123.45.67.89:8080",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"https://98.76.54.32:3128",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    # 支持</a:t>
            </a:r>
            <a:r>
              <a:rPr lang="en-US" altLang="zh-CN" sz="1400" dirty="0">
                <a:solidFill>
                  <a:schemeClr val="bg1"/>
                </a:solidFill>
              </a:rPr>
              <a:t>HTTP/HTTPS/SOCKS</a:t>
            </a:r>
            <a:r>
              <a:rPr lang="zh-CN" altLang="en-US" sz="1400" dirty="0">
                <a:solidFill>
                  <a:schemeClr val="bg1"/>
                </a:solidFill>
              </a:rPr>
              <a:t>协议</a:t>
            </a:r>
            <a:endParaRPr lang="zh-CN" altLang="en-US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]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def get_random_proxy():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proxy = random.choice(PROXY_LIST)</a:t>
            </a:r>
            <a:endParaRPr lang="en-US" altLang="zh-CN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</a:rPr>
              <a:t>    return {"http": proxy, "https": proxy}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 flipH="1">
            <a:off x="568960" y="6613525"/>
            <a:ext cx="6975475" cy="1347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维护了包含 </a:t>
            </a:r>
            <a:r>
              <a:rPr lang="en-US" altLang="zh-CN"/>
              <a:t>Chrome、Firefox、Edge、Safari </a:t>
            </a:r>
            <a:r>
              <a:rPr lang="zh-CN" altLang="en-US"/>
              <a:t>等主流浏览器的 100 + 条真实 </a:t>
            </a:r>
            <a:r>
              <a:rPr lang="en-US" altLang="zh-CN"/>
              <a:t>User-Agent，</a:t>
            </a:r>
            <a:r>
              <a:rPr lang="zh-CN" altLang="en-US"/>
              <a:t>通过随机轮换策略，让每次请求都模拟不同浏览器的访问行为，降低被反爬系统识别为爬虫的概率，提升爬取稳定性。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 flipH="1">
            <a:off x="8622665" y="6527165"/>
            <a:ext cx="6975475" cy="13474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支持 </a:t>
            </a:r>
            <a:r>
              <a:rPr lang="en-US" altLang="zh-CN"/>
              <a:t>HTTP/HTTPS/SOCKS </a:t>
            </a:r>
            <a:r>
              <a:rPr lang="zh-CN" altLang="en-US"/>
              <a:t>等多协议代理管理，通过随机获取策略，在单个 </a:t>
            </a:r>
            <a:r>
              <a:rPr lang="en-US" altLang="zh-CN"/>
              <a:t>IP </a:t>
            </a:r>
            <a:r>
              <a:rPr lang="zh-CN" altLang="en-US"/>
              <a:t>被限制时自动切换代理，实现 </a:t>
            </a:r>
            <a:r>
              <a:rPr lang="en-US" altLang="zh-CN"/>
              <a:t>IP </a:t>
            </a:r>
            <a:r>
              <a:rPr lang="zh-CN" altLang="en-US"/>
              <a:t>伪装与故障恢复。代理池可动态扩展，适配不同爬取场景的 </a:t>
            </a:r>
            <a:r>
              <a:rPr lang="en-US" altLang="zh-CN"/>
              <a:t>IP </a:t>
            </a:r>
            <a:r>
              <a:rPr lang="zh-CN" altLang="en-US"/>
              <a:t>需求，避免单 </a:t>
            </a:r>
            <a:r>
              <a:rPr lang="en-US" altLang="zh-CN"/>
              <a:t>IP </a:t>
            </a:r>
            <a:r>
              <a:rPr lang="zh-CN" altLang="en-US"/>
              <a:t>高频访问被封禁。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395980" y="7910195"/>
            <a:ext cx="94646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utils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模块是项目的公共工具层，为爬虫、中间件、管道提供日志记录、反爬伪装、代理管理等通用能力，实现代码复用与功能解耦，让核心业务逻辑更简洁、可维护性更强。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工具模块与工程规范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5" name="Text 12"/>
          <p:cNvSpPr/>
          <p:nvPr/>
        </p:nvSpPr>
        <p:spPr>
          <a:xfrm>
            <a:off x="762000" y="1691005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main.py 一键执行主入口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93183" y="2199005"/>
            <a:ext cx="22225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17" name="Text 14"/>
          <p:cNvSpPr/>
          <p:nvPr/>
        </p:nvSpPr>
        <p:spPr>
          <a:xfrm>
            <a:off x="493183" y="2199005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① 爬取数据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Requests+Selenium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791883" y="2453005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19" name="Shape 16"/>
          <p:cNvSpPr/>
          <p:nvPr/>
        </p:nvSpPr>
        <p:spPr>
          <a:xfrm>
            <a:off x="3249083" y="2199005"/>
            <a:ext cx="22225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0" name="Text 17"/>
          <p:cNvSpPr/>
          <p:nvPr/>
        </p:nvSpPr>
        <p:spPr>
          <a:xfrm>
            <a:off x="3249083" y="2199005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② 数据清洗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DataCleaner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547783" y="2453005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14" name="Shape 19"/>
          <p:cNvSpPr/>
          <p:nvPr/>
        </p:nvSpPr>
        <p:spPr>
          <a:xfrm>
            <a:off x="6004983" y="2199005"/>
            <a:ext cx="22225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3" name="Text 20"/>
          <p:cNvSpPr/>
          <p:nvPr/>
        </p:nvSpPr>
        <p:spPr>
          <a:xfrm>
            <a:off x="6004983" y="2199005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③ MySQL入库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MySQLHandler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303683" y="2453005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25" name="Shape 22"/>
          <p:cNvSpPr/>
          <p:nvPr/>
        </p:nvSpPr>
        <p:spPr>
          <a:xfrm>
            <a:off x="8760883" y="2199005"/>
            <a:ext cx="22225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6" name="Text 23"/>
          <p:cNvSpPr/>
          <p:nvPr/>
        </p:nvSpPr>
        <p:spPr>
          <a:xfrm>
            <a:off x="8760883" y="2199005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④ 统计分析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Top10/导演/类型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059583" y="2453005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28" name="Shape 25"/>
          <p:cNvSpPr/>
          <p:nvPr/>
        </p:nvSpPr>
        <p:spPr>
          <a:xfrm>
            <a:off x="11516783" y="2199005"/>
            <a:ext cx="2222500" cy="635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9" name="Text 26"/>
          <p:cNvSpPr/>
          <p:nvPr/>
        </p:nvSpPr>
        <p:spPr>
          <a:xfrm>
            <a:off x="11516783" y="2199005"/>
            <a:ext cx="22225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⑤ 情感分析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SnowNLP+jieba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4272682" y="2135505"/>
            <a:ext cx="1729317" cy="635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31" name="Shape 28"/>
          <p:cNvSpPr/>
          <p:nvPr/>
        </p:nvSpPr>
        <p:spPr>
          <a:xfrm>
            <a:off x="13779500" y="2389505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943A"/>
          </a:solidFill>
        </p:spPr>
      </p:sp>
      <p:sp>
        <p:nvSpPr>
          <p:cNvPr id="32" name="Text 29"/>
          <p:cNvSpPr/>
          <p:nvPr/>
        </p:nvSpPr>
        <p:spPr>
          <a:xfrm>
            <a:off x="14448367" y="2016972"/>
            <a:ext cx="1202267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⑥ 可视化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62000" y="3151505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项目目录结构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62000" y="3596005"/>
            <a:ext cx="6858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douban/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├── core/</a:t>
            </a: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爬虫核心（requests/selenium/base）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├── analysis/</a:t>
            </a: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数据分析（cleaner/sentiment/viz）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├── db/</a:t>
            </a: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数据库（mysql_handler/sql）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├── scrapy_douban/</a:t>
            </a: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Scrapy爬虫（items/pipelines/...）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├── utils/</a:t>
            </a: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工具（logger/ua/proxy）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├── data/</a:t>
            </a: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数据（raw/processed/images）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├── logs/</a:t>
            </a: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运行日志</a:t>
            </a:r>
            <a:endParaRPr lang="en-US" sz="18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└── main.py 一键执行入口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128000" y="3151505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工程规范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8128000" y="3596005"/>
            <a:ext cx="7366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1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代码规范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中文注释覆盖所有类和函数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类型提示广泛使用，统一snake_case命名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1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异常处理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try-except-finally完整资源释放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上下文管理器支持，日志分级记录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1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版本控制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• Git管理，.gitignore规范，requirements.txt完整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4859000" y="6351905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524000"/>
            <a:ext cx="5080000" cy="203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dirty="0">
                <a:solidFill>
                  <a:srgbClr val="D4943A">
                    <a:alpha val="18824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2540000"/>
            <a:ext cx="127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3492500"/>
            <a:ext cx="1016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5" name="Text 3"/>
          <p:cNvSpPr/>
          <p:nvPr/>
        </p:nvSpPr>
        <p:spPr>
          <a:xfrm>
            <a:off x="762000" y="3746500"/>
            <a:ext cx="762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项目成果与总结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46355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最终产出、核心亮点、未来展望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项目成果与核心亮点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Shape 11"/>
          <p:cNvSpPr/>
          <p:nvPr/>
        </p:nvSpPr>
        <p:spPr>
          <a:xfrm>
            <a:off x="762000" y="1498600"/>
            <a:ext cx="2794000" cy="1270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14" name="Text 12"/>
          <p:cNvSpPr/>
          <p:nvPr/>
        </p:nvSpPr>
        <p:spPr>
          <a:xfrm>
            <a:off x="762000" y="1549400"/>
            <a:ext cx="279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2222500"/>
            <a:ext cx="279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部电影完整数据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0" y="1498600"/>
            <a:ext cx="2794000" cy="1270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7" name="Text 15"/>
          <p:cNvSpPr/>
          <p:nvPr/>
        </p:nvSpPr>
        <p:spPr>
          <a:xfrm>
            <a:off x="3810000" y="1549400"/>
            <a:ext cx="279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3,750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10000" y="2222500"/>
            <a:ext cx="279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条用户短评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1498600"/>
            <a:ext cx="2794000" cy="1270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0" name="Text 18"/>
          <p:cNvSpPr/>
          <p:nvPr/>
        </p:nvSpPr>
        <p:spPr>
          <a:xfrm>
            <a:off x="6858000" y="1549400"/>
            <a:ext cx="279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250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2222500"/>
            <a:ext cx="279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张高清海报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06000" y="1498600"/>
            <a:ext cx="2794000" cy="12700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23" name="Text 21"/>
          <p:cNvSpPr/>
          <p:nvPr/>
        </p:nvSpPr>
        <p:spPr>
          <a:xfrm>
            <a:off x="9906000" y="1549400"/>
            <a:ext cx="279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0" y="2222500"/>
            <a:ext cx="279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类专业图表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954000" y="1498600"/>
            <a:ext cx="2540000" cy="12700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26" name="Text 24"/>
          <p:cNvSpPr/>
          <p:nvPr/>
        </p:nvSpPr>
        <p:spPr>
          <a:xfrm>
            <a:off x="12954000" y="15494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54000" y="2222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个关联数据表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3048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十大核心亮点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62000" y="3556000"/>
            <a:ext cx="7112000" cy="469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01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完整双爬虫架构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：Requests（轻量）+ Scrapy（高性能）互补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02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全自动流程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：爬取→清洗→入库→分析→可视化一键执行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03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动态渲染支持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：Selenium无头浏览器处理JavaScript加载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04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数据结构化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：导演/类型/主演/年份自动解析提取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05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MySQL外键关联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：movies+comments双表，数据完整性强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82000" y="3556000"/>
            <a:ext cx="7112000" cy="469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06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情感分析+NLP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：SnowNLP三分类+jieba分词+关键词提取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07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7类专业可视化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：直方图/饼图/散点/趋势/词云等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08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完善反爬策略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：UA池/代理池/延时/重试/Cookie全覆盖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09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海报批量下载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：250张高清海报，断点续传/去重</a:t>
            </a:r>
            <a:endParaRPr lang="en-US" sz="1800" dirty="0"/>
          </a:p>
          <a:p>
            <a:pPr>
              <a:lnSpc>
                <a:spcPct val="165000"/>
              </a:lnSpc>
            </a:pPr>
            <a:r>
              <a:rPr lang="en-US" sz="1600" b="1" dirty="0">
                <a:solidFill>
                  <a:srgbClr val="D494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10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</a:t>
            </a:r>
            <a:r>
              <a:rPr lang="en-US" sz="1600" b="1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完整日志+异常处理</a:t>
            </a:r>
            <a:r>
              <a:rPr lang="en-US" sz="1600" dirty="0">
                <a:solidFill>
                  <a:srgbClr val="1A1A2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：分级日志/try-except/资源释放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8382000"/>
            <a:ext cx="14732000" cy="3556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2" name="Text 30"/>
          <p:cNvSpPr/>
          <p:nvPr/>
        </p:nvSpPr>
        <p:spPr>
          <a:xfrm>
            <a:off x="762000" y="83820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GitHub: https://github.com/mollywprld/douban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" name="Text 32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0F4C3A"/>
          </a:solidFill>
        </p:spPr>
      </p:sp>
      <p:sp>
        <p:nvSpPr>
          <p:cNvPr id="3" name="Text 1"/>
          <p:cNvSpPr/>
          <p:nvPr/>
        </p:nvSpPr>
        <p:spPr>
          <a:xfrm>
            <a:off x="6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项目概述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4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爬虫核心模块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35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数据分析与可视化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21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数据库存储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07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Scrapy架构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93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工具与工程实践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79500" y="63500"/>
            <a:ext cx="2222500" cy="431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项目成果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" y="685800"/>
            <a:ext cx="889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F4C3A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未来展望与扩展方向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44600"/>
            <a:ext cx="635000" cy="508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13" name="Shape 11"/>
          <p:cNvSpPr/>
          <p:nvPr/>
        </p:nvSpPr>
        <p:spPr>
          <a:xfrm>
            <a:off x="762000" y="15240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1400" y="1714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0F4C3A"/>
          </a:solidFill>
        </p:spPr>
      </p:sp>
      <p:sp>
        <p:nvSpPr>
          <p:cNvPr id="15" name="Text 13"/>
          <p:cNvSpPr/>
          <p:nvPr/>
        </p:nvSpPr>
        <p:spPr>
          <a:xfrm>
            <a:off x="1549400" y="17145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分布式爬虫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2286000"/>
            <a:ext cx="4191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基于Scrapy-Redis实现分布式爬虫集群，支持多节点并行采集，突破单机性能瓶颈。集成Bloom Filter去重，大幅提升大规模数据采集效率。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0" y="15240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1700" y="1714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7733" y="187563"/>
                </a:moveTo>
                <a:lnTo>
                  <a:pt x="225266" y="187563"/>
                </a:lnTo>
                <a:lnTo>
                  <a:pt x="225266" y="140414"/>
                </a:lnTo>
                <a:lnTo>
                  <a:pt x="277733" y="140414"/>
                </a:lnTo>
                <a:lnTo>
                  <a:pt x="277733" y="187563"/>
                </a:lnTo>
                <a:close/>
                <a:moveTo>
                  <a:pt x="277733" y="25400"/>
                </a:moveTo>
                <a:lnTo>
                  <a:pt x="225266" y="25400"/>
                </a:lnTo>
                <a:lnTo>
                  <a:pt x="225266" y="73581"/>
                </a:lnTo>
                <a:lnTo>
                  <a:pt x="277733" y="73581"/>
                </a:lnTo>
                <a:lnTo>
                  <a:pt x="277733" y="25400"/>
                </a:lnTo>
                <a:close/>
                <a:moveTo>
                  <a:pt x="339804" y="140335"/>
                </a:moveTo>
                <a:lnTo>
                  <a:pt x="287338" y="140335"/>
                </a:lnTo>
                <a:lnTo>
                  <a:pt x="287338" y="187484"/>
                </a:lnTo>
                <a:lnTo>
                  <a:pt x="339804" y="187484"/>
                </a:lnTo>
                <a:lnTo>
                  <a:pt x="339804" y="140335"/>
                </a:lnTo>
                <a:close/>
                <a:moveTo>
                  <a:pt x="215741" y="83106"/>
                </a:moveTo>
                <a:lnTo>
                  <a:pt x="163274" y="83106"/>
                </a:lnTo>
                <a:lnTo>
                  <a:pt x="163274" y="130810"/>
                </a:lnTo>
                <a:lnTo>
                  <a:pt x="215741" y="130810"/>
                </a:lnTo>
                <a:lnTo>
                  <a:pt x="215741" y="83106"/>
                </a:lnTo>
                <a:close/>
                <a:moveTo>
                  <a:pt x="277733" y="83106"/>
                </a:moveTo>
                <a:lnTo>
                  <a:pt x="225266" y="83106"/>
                </a:lnTo>
                <a:lnTo>
                  <a:pt x="225266" y="130810"/>
                </a:lnTo>
                <a:lnTo>
                  <a:pt x="277733" y="130810"/>
                </a:lnTo>
                <a:lnTo>
                  <a:pt x="277733" y="83106"/>
                </a:lnTo>
                <a:close/>
                <a:moveTo>
                  <a:pt x="497443" y="162481"/>
                </a:moveTo>
                <a:cubicBezTo>
                  <a:pt x="486013" y="154781"/>
                  <a:pt x="459661" y="152003"/>
                  <a:pt x="439420" y="155813"/>
                </a:cubicBezTo>
                <a:cubicBezTo>
                  <a:pt x="436801" y="136763"/>
                  <a:pt x="426164" y="120174"/>
                  <a:pt x="406797" y="105251"/>
                </a:cubicBezTo>
                <a:lnTo>
                  <a:pt x="395684" y="97869"/>
                </a:lnTo>
                <a:lnTo>
                  <a:pt x="388303" y="108982"/>
                </a:lnTo>
                <a:cubicBezTo>
                  <a:pt x="373698" y="131048"/>
                  <a:pt x="369729" y="167402"/>
                  <a:pt x="385366" y="191373"/>
                </a:cubicBezTo>
                <a:cubicBezTo>
                  <a:pt x="378460" y="195104"/>
                  <a:pt x="364887" y="200184"/>
                  <a:pt x="346948" y="199866"/>
                </a:cubicBezTo>
                <a:lnTo>
                  <a:pt x="1905" y="199866"/>
                </a:lnTo>
                <a:cubicBezTo>
                  <a:pt x="-5001" y="240189"/>
                  <a:pt x="6509" y="292576"/>
                  <a:pt x="36830" y="328533"/>
                </a:cubicBezTo>
                <a:cubicBezTo>
                  <a:pt x="66278" y="363379"/>
                  <a:pt x="110411" y="381079"/>
                  <a:pt x="168116" y="381079"/>
                </a:cubicBezTo>
                <a:cubicBezTo>
                  <a:pt x="293053" y="381079"/>
                  <a:pt x="385524" y="323532"/>
                  <a:pt x="428784" y="218996"/>
                </a:cubicBezTo>
                <a:cubicBezTo>
                  <a:pt x="445770" y="219313"/>
                  <a:pt x="482441" y="219075"/>
                  <a:pt x="501253" y="183118"/>
                </a:cubicBezTo>
                <a:cubicBezTo>
                  <a:pt x="502444" y="181134"/>
                  <a:pt x="506492" y="172641"/>
                  <a:pt x="508000" y="169545"/>
                </a:cubicBezTo>
                <a:lnTo>
                  <a:pt x="497443" y="162481"/>
                </a:lnTo>
                <a:close/>
                <a:moveTo>
                  <a:pt x="91757" y="140335"/>
                </a:moveTo>
                <a:lnTo>
                  <a:pt x="39370" y="140335"/>
                </a:lnTo>
                <a:lnTo>
                  <a:pt x="39370" y="187484"/>
                </a:lnTo>
                <a:lnTo>
                  <a:pt x="91837" y="187484"/>
                </a:lnTo>
                <a:lnTo>
                  <a:pt x="91837" y="140335"/>
                </a:lnTo>
                <a:lnTo>
                  <a:pt x="91757" y="140335"/>
                </a:lnTo>
                <a:close/>
                <a:moveTo>
                  <a:pt x="153749" y="140335"/>
                </a:moveTo>
                <a:lnTo>
                  <a:pt x="101283" y="140335"/>
                </a:lnTo>
                <a:lnTo>
                  <a:pt x="101283" y="187484"/>
                </a:lnTo>
                <a:lnTo>
                  <a:pt x="153749" y="187484"/>
                </a:lnTo>
                <a:lnTo>
                  <a:pt x="153749" y="140335"/>
                </a:lnTo>
                <a:close/>
                <a:moveTo>
                  <a:pt x="215741" y="140335"/>
                </a:moveTo>
                <a:lnTo>
                  <a:pt x="163274" y="140335"/>
                </a:lnTo>
                <a:lnTo>
                  <a:pt x="163274" y="187484"/>
                </a:lnTo>
                <a:lnTo>
                  <a:pt x="215741" y="187484"/>
                </a:lnTo>
                <a:lnTo>
                  <a:pt x="215741" y="140335"/>
                </a:lnTo>
                <a:close/>
                <a:moveTo>
                  <a:pt x="153749" y="83106"/>
                </a:moveTo>
                <a:lnTo>
                  <a:pt x="101282" y="83106"/>
                </a:lnTo>
                <a:lnTo>
                  <a:pt x="101282" y="130810"/>
                </a:lnTo>
                <a:lnTo>
                  <a:pt x="153749" y="130810"/>
                </a:lnTo>
                <a:lnTo>
                  <a:pt x="153749" y="83106"/>
                </a:lnTo>
                <a:close/>
              </a:path>
            </a:pathLst>
          </a:custGeom>
          <a:solidFill>
            <a:srgbClr val="D4943A"/>
          </a:solidFill>
        </p:spPr>
      </p:sp>
      <p:sp>
        <p:nvSpPr>
          <p:cNvPr id="19" name="Text 17"/>
          <p:cNvSpPr/>
          <p:nvPr/>
        </p:nvSpPr>
        <p:spPr>
          <a:xfrm>
            <a:off x="6565900" y="17145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Docker容器化部署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0" y="2286000"/>
            <a:ext cx="4191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通过Docker Compose编排爬虫、数据库、可视化服务，实现一键部署。结合GitHub Actions实现CI/CD自动化测试与持续集成。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5000" y="15240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98200" y="1714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0F4C3A"/>
          </a:solidFill>
        </p:spPr>
      </p:sp>
      <p:sp>
        <p:nvSpPr>
          <p:cNvPr id="23" name="Text 21"/>
          <p:cNvSpPr/>
          <p:nvPr/>
        </p:nvSpPr>
        <p:spPr>
          <a:xfrm>
            <a:off x="11582400" y="17145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大模型智能推荐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0" y="2286000"/>
            <a:ext cx="4191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结合LLM（GPT/Claude）构建电影推荐系统，基于用户偏好和电影特征生成个性化推荐。扩展知识图谱关联导演、演员、类型关系。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0800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6000" y="527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D4943A"/>
          </a:solidFill>
        </p:spPr>
      </p:sp>
      <p:sp>
        <p:nvSpPr>
          <p:cNvPr id="27" name="Text 25"/>
          <p:cNvSpPr/>
          <p:nvPr/>
        </p:nvSpPr>
        <p:spPr>
          <a:xfrm>
            <a:off x="1549400" y="52705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实时监控面板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5842000"/>
            <a:ext cx="4191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基于Streamlit/Dash构建可视化监控大屏，实时展示爬虫进度、数据质量指标、情感分析动态变化，支持数据导出和API接口服务。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78500" y="50800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57900" y="5270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04800" y="406400"/>
                </a:moveTo>
                <a:lnTo>
                  <a:pt x="76200" y="406400"/>
                </a:lnTo>
                <a:cubicBezTo>
                  <a:pt x="34131" y="406400"/>
                  <a:pt x="0" y="372269"/>
                  <a:pt x="0" y="330200"/>
                </a:cubicBezTo>
                <a:lnTo>
                  <a:pt x="0" y="76200"/>
                </a:lnTo>
                <a:cubicBezTo>
                  <a:pt x="0" y="34131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7066"/>
                  <a:pt x="355600" y="38100"/>
                </a:cubicBezTo>
                <a:lnTo>
                  <a:pt x="355600" y="266700"/>
                </a:lnTo>
                <a:cubicBezTo>
                  <a:pt x="355600" y="283289"/>
                  <a:pt x="344964" y="297418"/>
                  <a:pt x="330200" y="302657"/>
                </a:cubicBezTo>
                <a:lnTo>
                  <a:pt x="330200" y="355600"/>
                </a:lnTo>
                <a:cubicBezTo>
                  <a:pt x="344249" y="355600"/>
                  <a:pt x="355600" y="366951"/>
                  <a:pt x="355600" y="381000"/>
                </a:cubicBezTo>
                <a:cubicBezTo>
                  <a:pt x="355600" y="395049"/>
                  <a:pt x="344249" y="406400"/>
                  <a:pt x="330200" y="406400"/>
                </a:cubicBezTo>
                <a:lnTo>
                  <a:pt x="304800" y="406400"/>
                </a:lnTo>
                <a:close/>
                <a:moveTo>
                  <a:pt x="76200" y="304800"/>
                </a:moveTo>
                <a:cubicBezTo>
                  <a:pt x="62151" y="304800"/>
                  <a:pt x="50800" y="316151"/>
                  <a:pt x="50800" y="330200"/>
                </a:cubicBezTo>
                <a:cubicBezTo>
                  <a:pt x="50800" y="344249"/>
                  <a:pt x="62151" y="355600"/>
                  <a:pt x="76200" y="355600"/>
                </a:cubicBezTo>
                <a:lnTo>
                  <a:pt x="279400" y="355600"/>
                </a:lnTo>
                <a:lnTo>
                  <a:pt x="279400" y="304800"/>
                </a:lnTo>
                <a:lnTo>
                  <a:pt x="76200" y="304800"/>
                </a:lnTo>
                <a:close/>
                <a:moveTo>
                  <a:pt x="101600" y="120650"/>
                </a:moveTo>
                <a:cubicBezTo>
                  <a:pt x="101600" y="131207"/>
                  <a:pt x="110093" y="139700"/>
                  <a:pt x="120650" y="139700"/>
                </a:cubicBezTo>
                <a:lnTo>
                  <a:pt x="260350" y="139700"/>
                </a:lnTo>
                <a:cubicBezTo>
                  <a:pt x="270907" y="139700"/>
                  <a:pt x="279400" y="131207"/>
                  <a:pt x="279400" y="120650"/>
                </a:cubicBezTo>
                <a:cubicBezTo>
                  <a:pt x="279400" y="110093"/>
                  <a:pt x="270907" y="101600"/>
                  <a:pt x="260350" y="101600"/>
                </a:cubicBezTo>
                <a:lnTo>
                  <a:pt x="120650" y="101600"/>
                </a:lnTo>
                <a:cubicBezTo>
                  <a:pt x="110093" y="101600"/>
                  <a:pt x="101600" y="110093"/>
                  <a:pt x="101600" y="120650"/>
                </a:cubicBezTo>
                <a:close/>
                <a:moveTo>
                  <a:pt x="120650" y="177800"/>
                </a:moveTo>
                <a:cubicBezTo>
                  <a:pt x="110093" y="177800"/>
                  <a:pt x="101600" y="186293"/>
                  <a:pt x="101600" y="196850"/>
                </a:cubicBezTo>
                <a:cubicBezTo>
                  <a:pt x="101600" y="207407"/>
                  <a:pt x="110093" y="215900"/>
                  <a:pt x="120650" y="215900"/>
                </a:cubicBezTo>
                <a:lnTo>
                  <a:pt x="260350" y="215900"/>
                </a:lnTo>
                <a:cubicBezTo>
                  <a:pt x="270907" y="215900"/>
                  <a:pt x="279400" y="207407"/>
                  <a:pt x="279400" y="196850"/>
                </a:cubicBezTo>
                <a:cubicBezTo>
                  <a:pt x="279400" y="186293"/>
                  <a:pt x="270907" y="177800"/>
                  <a:pt x="260350" y="177800"/>
                </a:cubicBezTo>
                <a:lnTo>
                  <a:pt x="120650" y="177800"/>
                </a:lnTo>
                <a:close/>
              </a:path>
            </a:pathLst>
          </a:custGeom>
          <a:solidFill>
            <a:srgbClr val="0F4C3A"/>
          </a:solidFill>
        </p:spPr>
      </p:sp>
      <p:sp>
        <p:nvSpPr>
          <p:cNvPr id="31" name="Text 29"/>
          <p:cNvSpPr/>
          <p:nvPr/>
        </p:nvSpPr>
        <p:spPr>
          <a:xfrm>
            <a:off x="6565900" y="52705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多频道扩展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32500" y="5842000"/>
            <a:ext cx="4191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将爬虫框架扩展至豆瓣读书Top250、豆瓣音乐Top250等频道，构建统一的豆瓣数据分析平台，支持跨品类对比分析。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95000" y="5080000"/>
            <a:ext cx="4699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98200" y="5270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D4943A"/>
          </a:solidFill>
        </p:spPr>
      </p:sp>
      <p:sp>
        <p:nvSpPr>
          <p:cNvPr id="35" name="Text 33"/>
          <p:cNvSpPr/>
          <p:nvPr/>
        </p:nvSpPr>
        <p:spPr>
          <a:xfrm>
            <a:off x="11582400" y="52705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用户画像分析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49000" y="5842000"/>
            <a:ext cx="4191000" cy="234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深入分析评论者行为模式，构建用户画像。结合时间序列分析评论趋势，挖掘电影口碑演化规律，支持票房预测等商业场景。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8" name="Text 36"/>
          <p:cNvSpPr/>
          <p:nvPr/>
        </p:nvSpPr>
        <p:spPr>
          <a:xfrm>
            <a:off x="14859000" y="87884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4C3A">
                  <a:alpha val="91000"/>
                </a:srgbClr>
              </a:gs>
              <a:gs pos="50000">
                <a:srgbClr val="0F4C3A">
                  <a:alpha val="88000"/>
                </a:srgbClr>
              </a:gs>
              <a:gs pos="100000">
                <a:srgbClr val="0F4C3A">
                  <a:alpha val="8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D4943A"/>
          </a:solidFill>
        </p:spPr>
      </p:sp>
      <p:sp>
        <p:nvSpPr>
          <p:cNvPr id="4" name="Text 2"/>
          <p:cNvSpPr/>
          <p:nvPr/>
        </p:nvSpPr>
        <p:spPr>
          <a:xfrm>
            <a:off x="3048000" y="3302000"/>
            <a:ext cx="1016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kern="0" spc="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88000" y="4381500"/>
            <a:ext cx="5080000" cy="25400"/>
          </a:xfrm>
          <a:prstGeom prst="rect">
            <a:avLst/>
          </a:prstGeom>
          <a:solidFill>
            <a:srgbClr val="FFFFFF">
              <a:alpha val="25098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3048000" y="4572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豆瓣电影 Top250 爬虫 &amp; 数据分析系统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18000" y="5461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完整Python网络爬虫数据采集与分析系统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8000" y="6604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GitHub: https://github.com/mollywprld/douban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88000" y="7366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欢迎交流与指导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3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4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5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6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7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8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9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0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1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2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3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4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5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6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7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8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19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0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1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2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3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4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5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6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7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8.xml><?xml version="1.0" encoding="utf-8"?>
<p:tagLst xmlns:p="http://schemas.openxmlformats.org/presentationml/2006/main">
  <p:tag name="KSO_WM_DIAGRAM_VIRTUALLY_FRAME" val="{&quot;height&quot;:500,&quot;left&quot;:60,&quot;top&quot;:140,&quot;width&quot;:1160}"/>
</p:tagLst>
</file>

<file path=ppt/tags/tag29.xml><?xml version="1.0" encoding="utf-8"?>
<p:tagLst xmlns:p="http://schemas.openxmlformats.org/presentationml/2006/main">
  <p:tag name="TABLE_ENDDRAG_ORIGIN_RECT" val="1058*121"/>
  <p:tag name="TABLE_ENDDRAG_RECT" val="60*150*1058*121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22832</Words>
  <Application>WPS 演示</Application>
  <PresentationFormat>自定义</PresentationFormat>
  <Paragraphs>1582</Paragraphs>
  <Slides>42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6" baseType="lpstr">
      <vt:lpstr>Arial</vt:lpstr>
      <vt:lpstr>宋体</vt:lpstr>
      <vt:lpstr>Wingdings</vt:lpstr>
      <vt:lpstr>Segoe Print</vt:lpstr>
      <vt:lpstr>Quattrocento Sans</vt:lpstr>
      <vt:lpstr>Quattrocento Sans</vt:lpstr>
      <vt:lpstr>Quattrocento Sans</vt:lpstr>
      <vt:lpstr>微软雅黑</vt:lpstr>
      <vt:lpstr>Calibri</vt:lpstr>
      <vt:lpstr>Arial Unicode MS</vt:lpstr>
      <vt:lpstr>等线</vt:lpstr>
      <vt:lpstr>Arial</vt:lpstr>
      <vt:lpstr>等线 Light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豆瓣电影 Top250 爬虫 &amp; 数据分析系统</dc:title>
  <dc:creator>Kimi</dc:creator>
  <dc:subject>豆瓣电影 Top250 爬虫 &amp; 数据分析系统</dc:subject>
  <cp:lastModifiedBy>WPS_1732358725</cp:lastModifiedBy>
  <cp:revision>49</cp:revision>
  <dcterms:created xsi:type="dcterms:W3CDTF">2026-05-16T14:03:00Z</dcterms:created>
  <dcterms:modified xsi:type="dcterms:W3CDTF">2026-05-17T16:17:58Z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{"Label":"豆瓣电影 Top250 爬虫 &amp; 数据分析系统","ContentProducer":"001191110108MACG2KBH8F10000","ProduceID":"","ReservedCode1":"","ContentPropagator":"001191110108MACG2KBH8F20000","PropagateID":"","ReservedCode2":""}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5F91D00DB2E94261BE36081B62C73646_13</vt:lpwstr>
  </property>
</Properties>
</file>